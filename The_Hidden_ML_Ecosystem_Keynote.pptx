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1" r:id="rId22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2" r:id="rId23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281F44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754880"/>
            <a:ext cx="3291840" cy="3291840"/>
          </a:xfrm>
          <a:prstGeom prst="ellipse">
            <a:avLst/>
          </a:prstGeom>
          <a:solidFill>
            <a:srgbClr val="281F4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FFB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HIDDEN ML ECOSYSTEM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8778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went down an</a:t>
            </a:r>
            <a:endParaRPr lang="en-US" sz="5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rabbit hole...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39776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B8A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...and these were the six things worth coming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B8A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with.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966960" y="4160520"/>
            <a:ext cx="1371600" cy="1371600"/>
          </a:xfrm>
          <a:prstGeom prst="ellipse">
            <a:avLst/>
          </a:prstGeom>
          <a:solidFill>
            <a:srgbClr val="281F44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4544568"/>
            <a:ext cx="603504" cy="60350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5989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B8A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CASUAL SHOW-AND-TELL  ·  15 MIN</a:t>
            </a:r>
            <a:endParaRPr lang="en-US" sz="11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presetID="10" presetClass="entr" presetSubtype="0" fill="hold" grpId="0" nodeType="after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presetID="10" presetClass="entr" presetSubtype="0" fill="hold" grpId="0" nodeType="after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presetID="10" presetClass="entr" presetSubtype="0" fill="hold" grpId="0" nodeType="afterEffect">
                            <p:stCondLst>
                              <p:cond delay="105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presetID="10" presetClass="entr" presetSubtype="0" fill="hold" grpId="0" nodeType="afterEffect">
                            <p:stCondLst>
                              <p:cond delay="140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STARTED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i="1" dirty="0">
                <a:solidFill>
                  <a:srgbClr val="23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 couldn’t decide what to present.”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148840"/>
            <a:ext cx="6492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23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Then I thought — we’re all about to build ML projects anyway. </a:t>
            </a:r>
            <a:pPr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23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instead of explaining another AI topic, I spent a few hours exploring what experienced ML engineers actually reach for while building.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640080" y="379476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the six that genuinely surprised me.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7543800" y="1188720"/>
            <a:ext cx="3931920" cy="3977640"/>
          </a:xfrm>
          <a:prstGeom prst="roundRect">
            <a:avLst>
              <a:gd name="adj" fmla="val 3256"/>
            </a:avLst>
          </a:prstGeom>
          <a:solidFill>
            <a:srgbClr val="F5F3FB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909560" y="1508760"/>
            <a:ext cx="822960" cy="822960"/>
          </a:xfrm>
          <a:prstGeom prst="ellipse">
            <a:avLst/>
          </a:prstGeom>
          <a:solidFill>
            <a:srgbClr val="FFE3D9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9989" y="1739189"/>
            <a:ext cx="362102" cy="36210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909560" y="25146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23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theory you already know.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909560" y="315468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the parts of a real project nobody hands you a tutorial for.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909560" y="4160520"/>
            <a:ext cx="3246120" cy="822960"/>
          </a:xfrm>
          <a:prstGeom prst="roundRect">
            <a:avLst>
              <a:gd name="adj" fmla="val 13333"/>
            </a:avLst>
          </a:prstGeom>
          <a:solidFill>
            <a:srgbClr val="FFEFEA"/>
          </a:solidFill>
          <a:ln/>
        </p:spPr>
      </p:sp>
      <p:sp>
        <p:nvSpPr>
          <p:cNvPr id="12" name="Text 9"/>
          <p:cNvSpPr/>
          <p:nvPr/>
        </p:nvSpPr>
        <p:spPr>
          <a:xfrm>
            <a:off x="8165592" y="4288536"/>
            <a:ext cx="2734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B84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looked into this so you don’t have to.”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THE HOOK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15665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HIDDEN ML ECOSYSTEM</a:t>
            </a:r>
            <a:endParaRPr lang="en-US" sz="9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7" fill="hold">
                      <p:stCondLst>
                        <p:cond delay="0"/>
                      </p:stCondLst>
                      <p:childTnLst>
                        <p:par>
                          <p:cTn id="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presetID="10" presetClass="entr" presetSubtype="0" fill="hold" grpId="0" nodeType="after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presetID="10" presetClass="entr" presetSubtype="0" fill="hold" grpId="0" nodeType="after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presetID="10" presetClass="entr" presetSubtype="0" fill="hold" grpId="0" nodeType="afterEffect">
                            <p:stCondLst>
                              <p:cond delay="105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presetID="10" presetClass="entr" presetSubtype="0" fill="hold" grpId="0" nodeType="afterEffect">
                            <p:stCondLst>
                              <p:cond delay="140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500"/>
                                  <p:tgtEl>
                                    <p:spTgt spid="6"/>
                                  </p:tgtEl>
                                </p:cBhvr>
                              </p:animEffec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" dur="500"/>
                                  <p:tgtEl>
                                    <p:spTgt spid="7"/>
                                  </p:tgtEl>
                                </p:cBhvr>
                              </p:animEffec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500"/>
                                  <p:tgtEl>
                                    <p:spTgt spid="8"/>
                                  </p:tgtEl>
                                </p:cBhvr>
                              </p:animEffec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" dur="500"/>
                                  <p:tgtEl>
                                    <p:spTgt spid="9"/>
                                  </p:tgtEl>
                                </p:cBhvr>
                              </p:animEffec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presetID="10" presetClass="entr" presetSubtype="0" fill="hold" grpId="0" nodeType="afterEffect">
                            <p:stCondLst>
                              <p:cond delay="175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8" dur="500"/>
                                  <p:tgtEl>
                                    <p:spTgt spid="11"/>
                                  </p:tgtEl>
                                </p:cBhvr>
                              </p:animEffec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5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grpId="0" nodeType="afterEffect">
                            <p:stCondLst>
                              <p:cond delay="210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10" presetClass="entr" presetSubtype="0" fill="hold" grpId="0" nodeType="afterEffect">
                            <p:stCondLst>
                              <p:cond delay="245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5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HOW IT BREAKS DOWN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3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ranking. Just the five things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3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behind every real ML project.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2084832" cy="3291840"/>
          </a:xfrm>
          <a:prstGeom prst="roundRect">
            <a:avLst>
              <a:gd name="adj" fmla="val 5263"/>
            </a:avLst>
          </a:prstGeom>
          <a:solidFill>
            <a:srgbClr val="F5F3FB"/>
          </a:solidFill>
          <a:ln/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53312" y="2651760"/>
            <a:ext cx="658368" cy="658368"/>
          </a:xfrm>
          <a:prstGeom prst="ellipse">
            <a:avLst/>
          </a:prstGeom>
          <a:solidFill>
            <a:srgbClr val="EAE6F7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7655" y="2836103"/>
            <a:ext cx="289682" cy="2896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520440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3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Data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4297680"/>
            <a:ext cx="17556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actually in your dataset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926080" y="2331720"/>
            <a:ext cx="2084832" cy="3291840"/>
          </a:xfrm>
          <a:prstGeom prst="roundRect">
            <a:avLst>
              <a:gd name="adj" fmla="val 5263"/>
            </a:avLst>
          </a:prstGeom>
          <a:solidFill>
            <a:srgbClr val="F5F3FB"/>
          </a:solidFill>
          <a:ln/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39312" y="2651760"/>
            <a:ext cx="658368" cy="658368"/>
          </a:xfrm>
          <a:prstGeom prst="ellipse">
            <a:avLst/>
          </a:prstGeom>
          <a:solidFill>
            <a:srgbClr val="EAE6F7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3655" y="2836103"/>
            <a:ext cx="289682" cy="28968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063240" y="3520440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3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Faster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090672" y="4297680"/>
            <a:ext cx="17556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baseline before you write much code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212080" y="2331720"/>
            <a:ext cx="2084832" cy="3291840"/>
          </a:xfrm>
          <a:prstGeom prst="roundRect">
            <a:avLst>
              <a:gd name="adj" fmla="val 5263"/>
            </a:avLst>
          </a:prstGeom>
          <a:solidFill>
            <a:srgbClr val="F5F3FB"/>
          </a:solidFill>
          <a:ln/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925312" y="2651760"/>
            <a:ext cx="658368" cy="658368"/>
          </a:xfrm>
          <a:prstGeom prst="ellipse">
            <a:avLst/>
          </a:prstGeom>
          <a:solidFill>
            <a:srgbClr val="EAE6F7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9655" y="2836103"/>
            <a:ext cx="289682" cy="28968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349240" y="3520440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3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Making It Explainable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5376672" y="4297680"/>
            <a:ext cx="17556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answering ‘why did it predict that’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7498080" y="2331720"/>
            <a:ext cx="2084832" cy="3291840"/>
          </a:xfrm>
          <a:prstGeom prst="roundRect">
            <a:avLst>
              <a:gd name="adj" fmla="val 5263"/>
            </a:avLst>
          </a:prstGeom>
          <a:solidFill>
            <a:srgbClr val="F5F3FB"/>
          </a:solidFill>
          <a:ln/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211312" y="2651760"/>
            <a:ext cx="658368" cy="658368"/>
          </a:xfrm>
          <a:prstGeom prst="ellipse">
            <a:avLst/>
          </a:prstGeom>
          <a:solidFill>
            <a:srgbClr val="EAE6F7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5655" y="2836103"/>
            <a:ext cx="289682" cy="28968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35240" y="3520440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3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Making a Demo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662672" y="4297680"/>
            <a:ext cx="17556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people can actually click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9784080" y="2331720"/>
            <a:ext cx="2084832" cy="3291840"/>
          </a:xfrm>
          <a:prstGeom prst="roundRect">
            <a:avLst>
              <a:gd name="adj" fmla="val 5263"/>
            </a:avLst>
          </a:prstGeom>
          <a:solidFill>
            <a:srgbClr val="FFEFEA"/>
          </a:solidFill>
          <a:ln/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497312" y="2651760"/>
            <a:ext cx="658368" cy="658368"/>
          </a:xfrm>
          <a:prstGeom prst="ellipse">
            <a:avLst/>
          </a:prstGeom>
          <a:solidFill>
            <a:srgbClr val="FFD9C7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81655" y="2836103"/>
            <a:ext cx="289682" cy="28968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921240" y="3520440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3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Keeping Track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9948672" y="4297680"/>
            <a:ext cx="17556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losing your best run at 2am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ROADMAP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615665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HIDDEN ML ECOSYSTEM</a:t>
            </a:r>
            <a:endParaRPr lang="en-US" sz="900" dirty="0"/>
          </a:p>
        </p:txBody>
      </p:sp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0" fill="hold">
                      <p:stCondLst>
                        <p:cond delay="0"/>
                      </p:stCondLst>
                      <p:childTnLst>
                        <p:par>
                          <p:cTn id="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presetID="10" presetClass="entr" presetSubtype="0" fill="hold" grpId="0" nodeType="after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presetID="10" presetClass="entr" presetSubtype="0" fill="hold" grpId="0" nodeType="after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500"/>
                                  <p:tgtEl>
                                    <p:spTgt spid="4"/>
                                  </p:tgtEl>
                                </p:cBhvr>
                              </p:animEffec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500"/>
                                  <p:tgtEl>
                                    <p:spTgt spid="5"/>
                                  </p:tgtEl>
                                </p:cBhvr>
                              </p:animEffec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/>
                                  <p:tgtEl>
                                    <p:spTgt spid="6"/>
                                  </p:tgtEl>
                                </p:cBhvr>
                              </p:animEffec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500"/>
                                  <p:tgtEl>
                                    <p:spTgt spid="7"/>
                                  </p:tgtEl>
                                </p:cBhvr>
                              </p:animEffec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presetID="10" presetClass="entr" presetSubtype="0" fill="hold" grpId="0" nodeType="afterEffect">
                            <p:stCondLst>
                              <p:cond delay="105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500"/>
                                  <p:tgtEl>
                                    <p:spTgt spid="9"/>
                                  </p:tgtEl>
                                </p:cBhvr>
                              </p:animEffec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500"/>
                                  <p:tgtEl>
                                    <p:spTgt spid="10"/>
                                  </p:tgtEl>
                                </p:cBhvr>
                              </p:animEffec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500"/>
                                  <p:tgtEl>
                                    <p:spTgt spid="11"/>
                                  </p:tgtEl>
                                </p:cBhvr>
                              </p:animEffec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8" dur="500"/>
                                  <p:tgtEl>
                                    <p:spTgt spid="12"/>
                                  </p:tgtEl>
                                </p:cBhvr>
                              </p:animEffec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grpId="0" nodeType="afterEffect">
                            <p:stCondLst>
                              <p:cond delay="140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500"/>
                                  <p:tgtEl>
                                    <p:spTgt spid="14"/>
                                  </p:tgtEl>
                                </p:cBhvr>
                              </p:animEffect>
                              <p:set>
                                <p:cBhvr>
                                  <p:cTn id="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5" dur="500"/>
                                  <p:tgtEl>
                                    <p:spTgt spid="15"/>
                                  </p:tgtEl>
                                </p:cBhvr>
                              </p:animEffect>
                              <p:set>
                                <p:cBhvr>
                                  <p:cTn id="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7" dur="500"/>
                                  <p:tgtEl>
                                    <p:spTgt spid="16"/>
                                  </p:tgtEl>
                                </p:cBhvr>
                              </p:animEffec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500"/>
                                  <p:tgtEl>
                                    <p:spTgt spid="17"/>
                                  </p:tgtEl>
                                </p:cBhvr>
                              </p:animEffect>
                              <p:set>
                                <p:cBhvr>
                                  <p:cTn id="4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1" dur="5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2" presetID="10" presetClass="entr" presetSubtype="0" fill="hold" grpId="0" nodeType="afterEffect">
                            <p:stCondLst>
                              <p:cond delay="1750"/>
                            </p:stCondLst>
                            <p:childTnLst>
                              <p:set>
                                <p:cBhvr>
                                  <p:cTn id="4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4" dur="500"/>
                                  <p:tgtEl>
                                    <p:spTgt spid="19"/>
                                  </p:tgtEl>
                                </p:cBhvr>
                              </p:animEffec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6" dur="500"/>
                                  <p:tgtEl>
                                    <p:spTgt spid="20"/>
                                  </p:tgtEl>
                                </p:cBhvr>
                              </p:animEffec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500"/>
                                  <p:tgtEl>
                                    <p:spTgt spid="21"/>
                                  </p:tgtEl>
                                </p:cBhvr>
                              </p:animEffec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500"/>
                                  <p:tgtEl>
                                    <p:spTgt spid="22"/>
                                  </p:tgtEl>
                                </p:cBhvr>
                              </p:animEffect>
                              <p:set>
                                <p:cBhvr>
                                  <p:cTn id="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2" dur="5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3" presetID="10" presetClass="entr" presetSubtype="0" fill="hold" grpId="0" nodeType="afterEffect">
                            <p:stCondLst>
                              <p:cond delay="210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500"/>
                                  <p:tgtEl>
                                    <p:spTgt spid="24"/>
                                  </p:tgtEl>
                                </p:cBhvr>
                              </p:animEffec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7" dur="500"/>
                                  <p:tgtEl>
                                    <p:spTgt spid="25"/>
                                  </p:tgtEl>
                                </p:cBhvr>
                              </p:animEffect>
                              <p:set>
                                <p:cBhvr>
                                  <p:cTn id="5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9" dur="500"/>
                                  <p:tgtEl>
                                    <p:spTgt spid="26"/>
                                  </p:tgtEl>
                                </p:cBhvr>
                              </p:animEffect>
                              <p:set>
                                <p:cBhvr>
                                  <p:cTn id="6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" dur="500"/>
                                  <p:tgtEl>
                                    <p:spTgt spid="27"/>
                                  </p:tgtEl>
                                </p:cBhvr>
                              </p:animEffec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50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4" presetID="10" presetClass="entr" presetSubtype="0" fill="hold" grpId="0" nodeType="afterEffect">
                            <p:stCondLst>
                              <p:cond delay="245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50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7" presetID="10" presetClass="entr" presetSubtype="0" fill="hold" grpId="0" nodeType="afterEffect">
                            <p:stCondLst>
                              <p:cond delay="2800"/>
                            </p:stCondLst>
                            <p:childTnLst>
                              <p:set>
                                <p:cBhvr>
                                  <p:cTn id="6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9" dur="500"/>
                                  <p:tgtEl>
                                    <p:spTgt spid="3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FFE3D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820" y="661660"/>
            <a:ext cx="249448" cy="2494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3312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DATA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353312" y="758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40080" y="123444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3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ydata-profiling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640080" y="1938528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spc="5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data exploration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40080" y="2468880"/>
            <a:ext cx="6492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23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was about to write my fifth seaborn plot just to check for missing values, and got curious whether someone had already automated this.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40080" y="3749040"/>
            <a:ext cx="6492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23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Wait… it can do that?  </a:t>
            </a:r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23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of code generates a full interactive report — correlations, distributions, missing data, duplicates — and it auto-flags things like skew or near-duplicate rows you'd probably scroll right past.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40080" y="521208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i="1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Worth knowing — </a:t>
            </a:r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built for tabular data — won't help much with images or raw text.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543800" y="1188720"/>
            <a:ext cx="3931920" cy="2743200"/>
          </a:xfrm>
          <a:prstGeom prst="roundRect">
            <a:avLst>
              <a:gd name="adj" fmla="val 4667"/>
            </a:avLst>
          </a:prstGeom>
          <a:solidFill>
            <a:srgbClr val="F5F3FB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818120" y="1417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FEATURE THAT SOLD ME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818120" y="173736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i="1" dirty="0">
                <a:solidFill>
                  <a:srgbClr val="23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flags near-duplicate rows automatically. I didn't even know that was something you were supposed to check for.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7543800" y="4160520"/>
            <a:ext cx="3931920" cy="868680"/>
          </a:xfrm>
          <a:prstGeom prst="roundRect">
            <a:avLst>
              <a:gd name="adj" fmla="val 12632"/>
            </a:avLst>
          </a:prstGeom>
          <a:solidFill>
            <a:srgbClr val="FFEFEA"/>
          </a:solidFill>
          <a:ln/>
        </p:spPr>
      </p:sp>
      <p:sp>
        <p:nvSpPr>
          <p:cNvPr id="15" name="Text 12"/>
          <p:cNvSpPr/>
          <p:nvPr/>
        </p:nvSpPr>
        <p:spPr>
          <a:xfrm>
            <a:off x="7799832" y="4288536"/>
            <a:ext cx="341985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i="1" dirty="0">
                <a:solidFill>
                  <a:srgbClr val="B84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“Running this before I touch any CSV again, no question.”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UNDERSTANDING DATA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15665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HIDDEN ML ECOSYSTEM</a:t>
            </a:r>
            <a:endParaRPr lang="en-US" sz="900" dirty="0"/>
          </a:p>
        </p:txBody>
      </p:sp>
      <p:sp>
        <p:nvSpPr>
          <p:cNvPr id="201" name="Badge201"/>
          <p:cNvSpPr/>
          <p:nvPr/>
        </p:nvSpPr>
        <p:spPr>
          <a:xfrm>
            <a:off x="9132280" y="685800"/>
            <a:ext cx="658000" cy="320040"/>
          </a:xfrm>
          <a:prstGeom prst="roundRect">
            <a:avLst>
              <a:gd name="adj" fmla="val 50000"/>
            </a:avLst>
          </a:prstGeom>
          <a:solidFill>
            <a:srgbClr val="FFEF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84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🆓 Free</a:t>
            </a:r>
            <a:endParaRPr lang="en-US" sz="950" dirty="0"/>
          </a:p>
        </p:txBody>
      </p:sp>
      <p:sp>
        <p:nvSpPr>
          <p:cNvPr id="202" name="Badge202"/>
          <p:cNvSpPr/>
          <p:nvPr/>
        </p:nvSpPr>
        <p:spPr>
          <a:xfrm>
            <a:off x="9881720" y="685800"/>
            <a:ext cx="1594000" cy="320040"/>
          </a:xfrm>
          <a:prstGeom prst="roundRect">
            <a:avLst>
              <a:gd name="adj" fmla="val 50000"/>
            </a:avLst>
          </a:prstGeom>
          <a:solidFill>
            <a:srgbClr val="FFEF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84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Best for Tabular</a:t>
            </a:r>
            <a:endParaRPr lang="en-US" sz="9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" dur="500"/>
                                  <p:tgtEl>
                                    <p:spTgt spid="2"/>
                                  </p:tgtEl>
                                </p:cBhvr>
                              </p:animEffec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presetID="10" presetClass="entr" presetSubtype="0" fill="hold" grpId="0" nodeType="after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presetID="10" presetClass="entr" presetSubtype="0" fill="hold" grpId="0" nodeType="after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presetID="10" presetClass="entr" presetSubtype="0" fill="hold" grpId="0" nodeType="afterEffect">
                            <p:stCondLst>
                              <p:cond delay="10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presetID="10" presetClass="entr" presetSubtype="0" fill="hold" grpId="0" nodeType="afterEffect">
                            <p:stCondLst>
                              <p:cond delay="140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presetID="10" presetClass="entr" presetSubtype="0" fill="hold" grpId="0" nodeType="afterEffect">
                            <p:stCondLst>
                              <p:cond delay="175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presetID="10" presetClass="entr" presetSubtype="0" fill="hold" grpId="0" nodeType="afterEffect">
                            <p:stCondLst>
                              <p:cond delay="210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presetID="10" presetClass="entr" presetSubtype="0" fill="hold" grpId="0" nodeType="afterEffect">
                            <p:stCondLst>
                              <p:cond delay="245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8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presetID="10" presetClass="entr" presetSubtype="0" fill="hold" grpId="0" nodeType="afterEffect">
                            <p:stCondLst>
                              <p:cond delay="280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" dur="500"/>
                                  <p:tgtEl>
                                    <p:spTgt spid="11"/>
                                  </p:tgtEl>
                                </p:cBhvr>
                              </p:animEffec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500"/>
                                  <p:tgtEl>
                                    <p:spTgt spid="12"/>
                                  </p:tgtEl>
                                </p:cBhvr>
                              </p:animEffect>
                              <p:set>
                                <p:cBhvr>
                                  <p:cTn id="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5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6" presetID="10" presetClass="entr" presetSubtype="0" fill="hold" grpId="0" nodeType="afterEffect">
                            <p:stCondLst>
                              <p:cond delay="3150"/>
                            </p:stCondLst>
                            <p:childTnLst>
                              <p:set>
                                <p:cBhvr>
                                  <p:cTn id="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8" dur="500"/>
                                  <p:tgtEl>
                                    <p:spTgt spid="14"/>
                                  </p:tgtEl>
                                </p:cBhvr>
                              </p:animEffect>
                              <p:set>
                                <p:cBhvr>
                                  <p:cTn id="3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0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1" presetID="10" presetClass="entr" presetSubtype="0" fill="hold" grpId="0" nodeType="afterEffect">
                            <p:stCondLst>
                              <p:cond delay="3500"/>
                            </p:stCondLst>
                            <p:childTnLst>
                              <p:set>
                                <p:cBhvr>
                                  <p:cTn id="4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3" dur="5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4" presetID="10" presetClass="entr" presetSubtype="0" fill="hold" grpId="0" nodeType="afterEffect">
                            <p:stCondLst>
                              <p:cond delay="3850"/>
                            </p:stCondLst>
                            <p:childTnLs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6" dur="5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7" presetID="10" presetClass="entr" presetSubtype="0" fill="hold" grpId="0" nodeType="afterEffect">
                            <p:stCondLst>
                              <p:cond delay="4200"/>
                            </p:stCondLst>
                            <p:childTnLst>
                              <p:set>
                                <p:cBhvr>
                                  <p:cTn id="4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9" dur="500"/>
                                  <p:tgtEl>
                                    <p:spTgt spid="20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0" presetID="10" presetClass="entr" presetSubtype="0" fill="hold" grpId="0" nodeType="afterEffect">
                            <p:stCondLst>
                              <p:cond delay="4550"/>
                            </p:stCondLst>
                            <p:childTnLst>
                              <p:set>
                                <p:cBhvr>
                                  <p:cTn id="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2" dur="500"/>
                                  <p:tgtEl>
                                    <p:spTgt spid="20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GUT CHECK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would you rather do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night before a deadline?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5120640" cy="3566160"/>
          </a:xfrm>
          <a:prstGeom prst="roundRect">
            <a:avLst>
              <a:gd name="adj" fmla="val 3590"/>
            </a:avLst>
          </a:prstGeom>
          <a:solidFill>
            <a:srgbClr val="281F44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6060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6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EDA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30632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B8A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way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05840" y="3520440"/>
            <a:ext cx="4389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df.describe() + 15 separate plots</a:t>
            </a:r>
            <a:endParaRPr lang="en-US" sz="140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eyeball every column for missing values</a:t>
            </a:r>
            <a:endParaRPr lang="en-US" sz="140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~2–3 hours</a:t>
            </a:r>
            <a:endParaRPr lang="en-US" sz="140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miss things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2331720"/>
            <a:ext cx="5120640" cy="3566160"/>
          </a:xfrm>
          <a:prstGeom prst="roundRect">
            <a:avLst>
              <a:gd name="adj" fmla="val 3590"/>
            </a:avLst>
          </a:prstGeom>
          <a:solidFill>
            <a:srgbClr val="281F44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0" y="26060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ydata-profiling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675120" y="30632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B8A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rabbit hole later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675120" y="3520440"/>
            <a:ext cx="4389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of code</a:t>
            </a:r>
            <a:endParaRPr lang="en-US" sz="140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interactive report</a:t>
            </a:r>
            <a:endParaRPr lang="en-US" sz="140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auto-flags every issue</a:t>
            </a:r>
            <a:endParaRPr lang="en-US" sz="140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 seconds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B8A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BREAK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15665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B8A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HIDDEN ML ECOSYSTEM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presetID="10" presetClass="entr" presetSubtype="0" fill="hold" grpId="0" nodeType="after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presetID="10" presetClass="entr" presetSubtype="0" fill="hold" grpId="0" nodeType="after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500"/>
                                  <p:tgtEl>
                                    <p:spTgt spid="4"/>
                                  </p:tgtEl>
                                </p:cBhvr>
                              </p:animEffec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500"/>
                                  <p:tgtEl>
                                    <p:spTgt spid="5"/>
                                  </p:tgtEl>
                                </p:cBhvr>
                              </p:animEffec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/>
                                  <p:tgtEl>
                                    <p:spTgt spid="6"/>
                                  </p:tgtEl>
                                </p:cBhvr>
                              </p:animEffec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presetID="10" presetClass="entr" presetSubtype="0" fill="hold" grpId="0" nodeType="afterEffect">
                            <p:stCondLst>
                              <p:cond delay="105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0" dur="500"/>
                                  <p:tgtEl>
                                    <p:spTgt spid="8"/>
                                  </p:tgtEl>
                                </p:cBhvr>
                              </p:animEffec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500"/>
                                  <p:tgtEl>
                                    <p:spTgt spid="9"/>
                                  </p:tgtEl>
                                </p:cBhvr>
                              </p:animEffec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500"/>
                                  <p:tgtEl>
                                    <p:spTgt spid="10"/>
                                  </p:tgtEl>
                                </p:cBhvr>
                              </p:animEffec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presetID="10" presetClass="entr" presetSubtype="0" fill="hold" grpId="0" nodeType="afterEffect">
                            <p:stCondLst>
                              <p:cond delay="140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9" dur="5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84687" y="502920"/>
            <a:ext cx="566928" cy="566928"/>
          </a:xfrm>
          <a:prstGeom prst="ellipse">
            <a:avLst/>
          </a:prstGeom>
          <a:solidFill>
            <a:srgbClr val="FFE3D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3427" y="661660"/>
            <a:ext cx="249448" cy="2494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892040" y="5303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DATA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892040" y="804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two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074920" y="123444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23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Cleanlab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5074920" y="1938528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i="1" spc="5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label errors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074920" y="2468880"/>
            <a:ext cx="6492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23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reading more about data quality, I found something that honestly bugged me a little.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5074920" y="3749040"/>
            <a:ext cx="6492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23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Wait… it can do that?  </a:t>
            </a:r>
            <a:pPr algn="r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23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ran Cleanlab on ImageNet and MNIST — the datasets basically everyone trains on as gold standards — and it found thousands of mislabeled examples in each one.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5074920" y="521208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250" b="1" i="1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Worth knowing — </a:t>
            </a:r>
            <a:pPr algn="r"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flags likely errors, it doesn't fix them. You still have to go look.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0080" y="1188720"/>
            <a:ext cx="3931920" cy="2743200"/>
          </a:xfrm>
          <a:prstGeom prst="roundRect">
            <a:avLst>
              <a:gd name="adj" fmla="val 4667"/>
            </a:avLst>
          </a:prstGeom>
          <a:solidFill>
            <a:srgbClr val="F5F3FB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914400" y="1417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FEATURE THAT SOLD ME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914400" y="173736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i="1" dirty="0">
                <a:solidFill>
                  <a:srgbClr val="23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works on any model, not just the one you trained it with. You can point it at a dataset before you've even picked an architecture.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640080" y="4160520"/>
            <a:ext cx="3931920" cy="868680"/>
          </a:xfrm>
          <a:prstGeom prst="roundRect">
            <a:avLst>
              <a:gd name="adj" fmla="val 12632"/>
            </a:avLst>
          </a:prstGeom>
          <a:solidFill>
            <a:srgbClr val="FFEFEA"/>
          </a:solidFill>
          <a:ln/>
        </p:spPr>
      </p:sp>
      <p:sp>
        <p:nvSpPr>
          <p:cNvPr id="15" name="Text 12"/>
          <p:cNvSpPr/>
          <p:nvPr/>
        </p:nvSpPr>
        <p:spPr>
          <a:xfrm>
            <a:off x="896112" y="4288536"/>
            <a:ext cx="341985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i="1" dirty="0">
                <a:solidFill>
                  <a:srgbClr val="B84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“This changed how I think about ‘clean’ data — basically nothing is.”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UNDERSTANDING DATA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15665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HIDDEN ML ECOSYSTEM</a:t>
            </a:r>
            <a:endParaRPr lang="en-US" sz="900" dirty="0"/>
          </a:p>
        </p:txBody>
      </p:sp>
      <p:sp>
        <p:nvSpPr>
          <p:cNvPr id="201" name="Badge201"/>
          <p:cNvSpPr/>
          <p:nvPr/>
        </p:nvSpPr>
        <p:spPr>
          <a:xfrm>
            <a:off x="640080" y="685800"/>
            <a:ext cx="658000" cy="320040"/>
          </a:xfrm>
          <a:prstGeom prst="roundRect">
            <a:avLst>
              <a:gd name="adj" fmla="val 50000"/>
            </a:avLst>
          </a:prstGeom>
          <a:solidFill>
            <a:srgbClr val="FFEF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84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🆓 Free</a:t>
            </a:r>
            <a:endParaRPr lang="en-US" sz="950" dirty="0"/>
          </a:p>
        </p:txBody>
      </p:sp>
      <p:sp>
        <p:nvSpPr>
          <p:cNvPr id="202" name="Badge202"/>
          <p:cNvSpPr/>
          <p:nvPr/>
        </p:nvSpPr>
        <p:spPr>
          <a:xfrm>
            <a:off x="1389520" y="685800"/>
            <a:ext cx="1204000" cy="320040"/>
          </a:xfrm>
          <a:prstGeom prst="roundRect">
            <a:avLst>
              <a:gd name="adj" fmla="val 50000"/>
            </a:avLst>
          </a:prstGeom>
          <a:solidFill>
            <a:srgbClr val="FFEF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84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Open Source</a:t>
            </a:r>
            <a:endParaRPr lang="en-US" sz="9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" dur="500"/>
                                  <p:tgtEl>
                                    <p:spTgt spid="2"/>
                                  </p:tgtEl>
                                </p:cBhvr>
                              </p:animEffec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presetID="10" presetClass="entr" presetSubtype="0" fill="hold" grpId="0" nodeType="after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presetID="10" presetClass="entr" presetSubtype="0" fill="hold" grpId="0" nodeType="after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presetID="10" presetClass="entr" presetSubtype="0" fill="hold" grpId="0" nodeType="afterEffect">
                            <p:stCondLst>
                              <p:cond delay="10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presetID="10" presetClass="entr" presetSubtype="0" fill="hold" grpId="0" nodeType="afterEffect">
                            <p:stCondLst>
                              <p:cond delay="140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presetID="10" presetClass="entr" presetSubtype="0" fill="hold" grpId="0" nodeType="afterEffect">
                            <p:stCondLst>
                              <p:cond delay="175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presetID="10" presetClass="entr" presetSubtype="0" fill="hold" grpId="0" nodeType="afterEffect">
                            <p:stCondLst>
                              <p:cond delay="210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presetID="10" presetClass="entr" presetSubtype="0" fill="hold" grpId="0" nodeType="afterEffect">
                            <p:stCondLst>
                              <p:cond delay="245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8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presetID="10" presetClass="entr" presetSubtype="0" fill="hold" grpId="0" nodeType="afterEffect">
                            <p:stCondLst>
                              <p:cond delay="280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" dur="500"/>
                                  <p:tgtEl>
                                    <p:spTgt spid="11"/>
                                  </p:tgtEl>
                                </p:cBhvr>
                              </p:animEffec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500"/>
                                  <p:tgtEl>
                                    <p:spTgt spid="12"/>
                                  </p:tgtEl>
                                </p:cBhvr>
                              </p:animEffect>
                              <p:set>
                                <p:cBhvr>
                                  <p:cTn id="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5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6" presetID="10" presetClass="entr" presetSubtype="0" fill="hold" grpId="0" nodeType="afterEffect">
                            <p:stCondLst>
                              <p:cond delay="3150"/>
                            </p:stCondLst>
                            <p:childTnLst>
                              <p:set>
                                <p:cBhvr>
                                  <p:cTn id="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8" dur="500"/>
                                  <p:tgtEl>
                                    <p:spTgt spid="14"/>
                                  </p:tgtEl>
                                </p:cBhvr>
                              </p:animEffect>
                              <p:set>
                                <p:cBhvr>
                                  <p:cTn id="3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0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1" presetID="10" presetClass="entr" presetSubtype="0" fill="hold" grpId="0" nodeType="afterEffect">
                            <p:stCondLst>
                              <p:cond delay="3500"/>
                            </p:stCondLst>
                            <p:childTnLst>
                              <p:set>
                                <p:cBhvr>
                                  <p:cTn id="4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3" dur="5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4" presetID="10" presetClass="entr" presetSubtype="0" fill="hold" grpId="0" nodeType="afterEffect">
                            <p:stCondLst>
                              <p:cond delay="3850"/>
                            </p:stCondLst>
                            <p:childTnLs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6" dur="5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7" presetID="10" presetClass="entr" presetSubtype="0" fill="hold" grpId="0" nodeType="afterEffect">
                            <p:stCondLst>
                              <p:cond delay="4200"/>
                            </p:stCondLst>
                            <p:childTnLst>
                              <p:set>
                                <p:cBhvr>
                                  <p:cTn id="4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9" dur="500"/>
                                  <p:tgtEl>
                                    <p:spTgt spid="20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0" presetID="10" presetClass="entr" presetSubtype="0" fill="hold" grpId="0" nodeType="afterEffect">
                            <p:stCondLst>
                              <p:cond delay="4550"/>
                            </p:stCondLst>
                            <p:childTnLst>
                              <p:set>
                                <p:cBhvr>
                                  <p:cTn id="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2" dur="500"/>
                                  <p:tgtEl>
                                    <p:spTgt spid="20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FFE3D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820" y="661660"/>
            <a:ext cx="249448" cy="2494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3312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FASTER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353312" y="758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40080" y="123444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3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PyCaret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640080" y="1938528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spc="5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baseline in three lines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40080" y="2468880"/>
            <a:ext cx="6492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23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was dreading writing separate preprocessing blocks for Random Forest, then XGBoost, then SVM, just to get a starting point.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40080" y="3749040"/>
            <a:ext cx="6492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23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Wait… it can do that?  </a:t>
            </a:r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23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compare_models() trains and ranks 15+ algorithms across 8 metrics automatically, in a sortable leaderboard. One more line deploys the winner as a live API.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40080" y="521208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i="1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Worth knowing — </a:t>
            </a:r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baseline, not a replacement for actually understanding your model (more on that next).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543800" y="1188720"/>
            <a:ext cx="3931920" cy="2743200"/>
          </a:xfrm>
          <a:prstGeom prst="roundRect">
            <a:avLst>
              <a:gd name="adj" fmla="val 4667"/>
            </a:avLst>
          </a:prstGeom>
          <a:solidFill>
            <a:srgbClr val="F5F3FB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818120" y="1417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FEATURE THAT SOLD ME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818120" y="173736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i="1" dirty="0">
                <a:solidFill>
                  <a:srgbClr val="23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whole leaderboard — 15+ models compared — runs from about three lines of code.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7543800" y="4160520"/>
            <a:ext cx="3931920" cy="868680"/>
          </a:xfrm>
          <a:prstGeom prst="roundRect">
            <a:avLst>
              <a:gd name="adj" fmla="val 12632"/>
            </a:avLst>
          </a:prstGeom>
          <a:solidFill>
            <a:srgbClr val="FFEFEA"/>
          </a:solidFill>
          <a:ln/>
        </p:spPr>
      </p:sp>
      <p:sp>
        <p:nvSpPr>
          <p:cNvPr id="15" name="Text 12"/>
          <p:cNvSpPr/>
          <p:nvPr/>
        </p:nvSpPr>
        <p:spPr>
          <a:xfrm>
            <a:off x="7799832" y="4288536"/>
            <a:ext cx="341985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i="1" dirty="0">
                <a:solidFill>
                  <a:srgbClr val="B84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“Probably my go-to for the first hour of any tabular project.”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BUILDING FASTER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15665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HIDDEN ML ECOSYSTEM</a:t>
            </a:r>
            <a:endParaRPr lang="en-US" sz="900" dirty="0"/>
          </a:p>
        </p:txBody>
      </p:sp>
      <p:sp>
        <p:nvSpPr>
          <p:cNvPr id="201" name="Badge201"/>
          <p:cNvSpPr/>
          <p:nvPr/>
        </p:nvSpPr>
        <p:spPr>
          <a:xfrm>
            <a:off x="9132280" y="685800"/>
            <a:ext cx="658000" cy="320040"/>
          </a:xfrm>
          <a:prstGeom prst="roundRect">
            <a:avLst>
              <a:gd name="adj" fmla="val 50000"/>
            </a:avLst>
          </a:prstGeom>
          <a:solidFill>
            <a:srgbClr val="FFEF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84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🆓 Free</a:t>
            </a:r>
            <a:endParaRPr lang="en-US" sz="950" dirty="0"/>
          </a:p>
        </p:txBody>
      </p:sp>
      <p:sp>
        <p:nvSpPr>
          <p:cNvPr id="202" name="Badge202"/>
          <p:cNvSpPr/>
          <p:nvPr/>
        </p:nvSpPr>
        <p:spPr>
          <a:xfrm>
            <a:off x="9881720" y="685800"/>
            <a:ext cx="1594000" cy="320040"/>
          </a:xfrm>
          <a:prstGeom prst="roundRect">
            <a:avLst>
              <a:gd name="adj" fmla="val 50000"/>
            </a:avLst>
          </a:prstGeom>
          <a:solidFill>
            <a:srgbClr val="FFEF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84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Best for Tabular</a:t>
            </a:r>
            <a:endParaRPr lang="en-US" sz="9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" dur="500"/>
                                  <p:tgtEl>
                                    <p:spTgt spid="2"/>
                                  </p:tgtEl>
                                </p:cBhvr>
                              </p:animEffec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presetID="10" presetClass="entr" presetSubtype="0" fill="hold" grpId="0" nodeType="after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presetID="10" presetClass="entr" presetSubtype="0" fill="hold" grpId="0" nodeType="after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presetID="10" presetClass="entr" presetSubtype="0" fill="hold" grpId="0" nodeType="afterEffect">
                            <p:stCondLst>
                              <p:cond delay="10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presetID="10" presetClass="entr" presetSubtype="0" fill="hold" grpId="0" nodeType="afterEffect">
                            <p:stCondLst>
                              <p:cond delay="140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presetID="10" presetClass="entr" presetSubtype="0" fill="hold" grpId="0" nodeType="afterEffect">
                            <p:stCondLst>
                              <p:cond delay="175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presetID="10" presetClass="entr" presetSubtype="0" fill="hold" grpId="0" nodeType="afterEffect">
                            <p:stCondLst>
                              <p:cond delay="210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presetID="10" presetClass="entr" presetSubtype="0" fill="hold" grpId="0" nodeType="afterEffect">
                            <p:stCondLst>
                              <p:cond delay="245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8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presetID="10" presetClass="entr" presetSubtype="0" fill="hold" grpId="0" nodeType="afterEffect">
                            <p:stCondLst>
                              <p:cond delay="280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" dur="500"/>
                                  <p:tgtEl>
                                    <p:spTgt spid="11"/>
                                  </p:tgtEl>
                                </p:cBhvr>
                              </p:animEffec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500"/>
                                  <p:tgtEl>
                                    <p:spTgt spid="12"/>
                                  </p:tgtEl>
                                </p:cBhvr>
                              </p:animEffect>
                              <p:set>
                                <p:cBhvr>
                                  <p:cTn id="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5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6" presetID="10" presetClass="entr" presetSubtype="0" fill="hold" grpId="0" nodeType="afterEffect">
                            <p:stCondLst>
                              <p:cond delay="3150"/>
                            </p:stCondLst>
                            <p:childTnLst>
                              <p:set>
                                <p:cBhvr>
                                  <p:cTn id="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8" dur="500"/>
                                  <p:tgtEl>
                                    <p:spTgt spid="14"/>
                                  </p:tgtEl>
                                </p:cBhvr>
                              </p:animEffect>
                              <p:set>
                                <p:cBhvr>
                                  <p:cTn id="3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0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1" presetID="10" presetClass="entr" presetSubtype="0" fill="hold" grpId="0" nodeType="afterEffect">
                            <p:stCondLst>
                              <p:cond delay="3500"/>
                            </p:stCondLst>
                            <p:childTnLst>
                              <p:set>
                                <p:cBhvr>
                                  <p:cTn id="4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3" dur="5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4" presetID="10" presetClass="entr" presetSubtype="0" fill="hold" grpId="0" nodeType="afterEffect">
                            <p:stCondLst>
                              <p:cond delay="3850"/>
                            </p:stCondLst>
                            <p:childTnLs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6" dur="5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7" presetID="10" presetClass="entr" presetSubtype="0" fill="hold" grpId="0" nodeType="afterEffect">
                            <p:stCondLst>
                              <p:cond delay="4200"/>
                            </p:stCondLst>
                            <p:childTnLst>
                              <p:set>
                                <p:cBhvr>
                                  <p:cTn id="4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9" dur="500"/>
                                  <p:tgtEl>
                                    <p:spTgt spid="20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0" presetID="10" presetClass="entr" presetSubtype="0" fill="hold" grpId="0" nodeType="afterEffect">
                            <p:stCondLst>
                              <p:cond delay="4550"/>
                            </p:stCondLst>
                            <p:childTnLst>
                              <p:set>
                                <p:cBhvr>
                                  <p:cTn id="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2" dur="500"/>
                                  <p:tgtEl>
                                    <p:spTgt spid="20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 VS REALITY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058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i="1" dirty="0">
                <a:solidFill>
                  <a:srgbClr val="23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“AutoML means I don’t need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800" b="1" i="1" dirty="0">
                <a:solidFill>
                  <a:srgbClr val="23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understand ML.”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5120640" cy="3383280"/>
          </a:xfrm>
          <a:prstGeom prst="roundRect">
            <a:avLst>
              <a:gd name="adj" fmla="val 3784"/>
            </a:avLst>
          </a:prstGeom>
          <a:solidFill>
            <a:srgbClr val="F5F3FB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6517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60120" y="3063240"/>
            <a:ext cx="4480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i="1" dirty="0">
                <a:solidFill>
                  <a:srgbClr val="23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like PyCaret replace the need to understand how models actually work.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080760" y="2377440"/>
            <a:ext cx="5394960" cy="3383280"/>
          </a:xfrm>
          <a:prstGeom prst="roundRect">
            <a:avLst>
              <a:gd name="adj" fmla="val 3784"/>
            </a:avLst>
          </a:prstGeom>
          <a:solidFill>
            <a:srgbClr val="FFEFE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26517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0" y="306324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23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AutoML gets you a fast baseline. Understanding WHY it works — which is what’s up next — is what actually impresses people.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BREAK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15665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HIDDEN ML ECOSYSTEM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presetID="10" presetClass="entr" presetSubtype="0" fill="hold" grpId="0" nodeType="after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presetID="10" presetClass="entr" presetSubtype="0" fill="hold" grpId="0" nodeType="after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500"/>
                                  <p:tgtEl>
                                    <p:spTgt spid="4"/>
                                  </p:tgtEl>
                                </p:cBhvr>
                              </p:animEffec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500"/>
                                  <p:tgtEl>
                                    <p:spTgt spid="5"/>
                                  </p:tgtEl>
                                </p:cBhvr>
                              </p:animEffec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presetID="10" presetClass="entr" presetSubtype="0" fill="hold" grpId="0" nodeType="afterEffect">
                            <p:stCondLst>
                              <p:cond delay="105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7"/>
                                  </p:tgtEl>
                                </p:cBhvr>
                              </p:animEffec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0" dur="500"/>
                                  <p:tgtEl>
                                    <p:spTgt spid="8"/>
                                  </p:tgtEl>
                                </p:cBhvr>
                              </p:animEffec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presetID="10" presetClass="entr" presetSubtype="0" fill="hold" grpId="0" nodeType="afterEffect">
                            <p:stCondLst>
                              <p:cond delay="140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27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9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84687" y="502920"/>
            <a:ext cx="566928" cy="566928"/>
          </a:xfrm>
          <a:prstGeom prst="ellipse">
            <a:avLst/>
          </a:prstGeom>
          <a:solidFill>
            <a:srgbClr val="FFE3D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3427" y="661660"/>
            <a:ext cx="249448" cy="2494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892040" y="5303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IT EXPLAINABLE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892040" y="804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074920" y="123444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23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5074920" y="1938528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i="1" spc="5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explaining a single prediction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074920" y="2468880"/>
            <a:ext cx="6492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23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imagined someone asking ‘why did your model predict that’ and realized I’d have nothing to say back.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5074920" y="3749040"/>
            <a:ext cx="6492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23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Wait… it can do that?  </a:t>
            </a:r>
            <a:pPr algn="r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23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can explain one single prediction, not just overall feature importance — a force plot shows exactly which features pushed that one data point up or down, and by how much.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5074920" y="521208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250" b="1" i="1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Worth knowing — </a:t>
            </a:r>
            <a:pPr algn="r"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plots take a bit of getting used to before they click.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0080" y="1188720"/>
            <a:ext cx="3931920" cy="2743200"/>
          </a:xfrm>
          <a:prstGeom prst="roundRect">
            <a:avLst>
              <a:gd name="adj" fmla="val 4667"/>
            </a:avLst>
          </a:prstGeom>
          <a:solidFill>
            <a:srgbClr val="F5F3FB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914400" y="1417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FEATURE THAT SOLD ME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914400" y="173736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i="1" dirty="0">
                <a:solidFill>
                  <a:srgbClr val="23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doesn't just rank features overall — it explains individual predictions, one at a time, on demand.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640080" y="4160520"/>
            <a:ext cx="3931920" cy="868680"/>
          </a:xfrm>
          <a:prstGeom prst="roundRect">
            <a:avLst>
              <a:gd name="adj" fmla="val 12632"/>
            </a:avLst>
          </a:prstGeom>
          <a:solidFill>
            <a:srgbClr val="FFEFEA"/>
          </a:solidFill>
          <a:ln/>
        </p:spPr>
      </p:sp>
      <p:sp>
        <p:nvSpPr>
          <p:cNvPr id="15" name="Text 12"/>
          <p:cNvSpPr/>
          <p:nvPr/>
        </p:nvSpPr>
        <p:spPr>
          <a:xfrm>
            <a:off x="896112" y="4288536"/>
            <a:ext cx="341985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i="1" dirty="0">
                <a:solidFill>
                  <a:srgbClr val="B84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“This one’s probably my favourite discovery. Makes a black box feel a lot less black.”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MAKING IT EXPLAINABLE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15665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HIDDEN ML ECOSYSTEM</a:t>
            </a:r>
            <a:endParaRPr lang="en-US" sz="900" dirty="0"/>
          </a:p>
        </p:txBody>
      </p:sp>
      <p:sp>
        <p:nvSpPr>
          <p:cNvPr id="201" name="Badge201"/>
          <p:cNvSpPr/>
          <p:nvPr/>
        </p:nvSpPr>
        <p:spPr>
          <a:xfrm>
            <a:off x="640080" y="685800"/>
            <a:ext cx="658000" cy="320040"/>
          </a:xfrm>
          <a:prstGeom prst="roundRect">
            <a:avLst>
              <a:gd name="adj" fmla="val 50000"/>
            </a:avLst>
          </a:prstGeom>
          <a:solidFill>
            <a:srgbClr val="FFEF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84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🆓 Free</a:t>
            </a:r>
            <a:endParaRPr lang="en-US" sz="950" dirty="0"/>
          </a:p>
        </p:txBody>
      </p:sp>
      <p:sp>
        <p:nvSpPr>
          <p:cNvPr id="202" name="Badge202"/>
          <p:cNvSpPr/>
          <p:nvPr/>
        </p:nvSpPr>
        <p:spPr>
          <a:xfrm>
            <a:off x="1389520" y="685800"/>
            <a:ext cx="1672000" cy="320040"/>
          </a:xfrm>
          <a:prstGeom prst="roundRect">
            <a:avLst>
              <a:gd name="adj" fmla="val 50000"/>
            </a:avLst>
          </a:prstGeom>
          <a:solidFill>
            <a:srgbClr val="FFEF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84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Beginner Friendly</a:t>
            </a:r>
            <a:endParaRPr lang="en-US" sz="9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" dur="500"/>
                                  <p:tgtEl>
                                    <p:spTgt spid="2"/>
                                  </p:tgtEl>
                                </p:cBhvr>
                              </p:animEffec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presetID="10" presetClass="entr" presetSubtype="0" fill="hold" grpId="0" nodeType="after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presetID="10" presetClass="entr" presetSubtype="0" fill="hold" grpId="0" nodeType="after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presetID="10" presetClass="entr" presetSubtype="0" fill="hold" grpId="0" nodeType="afterEffect">
                            <p:stCondLst>
                              <p:cond delay="10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presetID="10" presetClass="entr" presetSubtype="0" fill="hold" grpId="0" nodeType="afterEffect">
                            <p:stCondLst>
                              <p:cond delay="140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presetID="10" presetClass="entr" presetSubtype="0" fill="hold" grpId="0" nodeType="afterEffect">
                            <p:stCondLst>
                              <p:cond delay="175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presetID="10" presetClass="entr" presetSubtype="0" fill="hold" grpId="0" nodeType="afterEffect">
                            <p:stCondLst>
                              <p:cond delay="210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presetID="10" presetClass="entr" presetSubtype="0" fill="hold" grpId="0" nodeType="afterEffect">
                            <p:stCondLst>
                              <p:cond delay="245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8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presetID="10" presetClass="entr" presetSubtype="0" fill="hold" grpId="0" nodeType="afterEffect">
                            <p:stCondLst>
                              <p:cond delay="280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" dur="500"/>
                                  <p:tgtEl>
                                    <p:spTgt spid="11"/>
                                  </p:tgtEl>
                                </p:cBhvr>
                              </p:animEffec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500"/>
                                  <p:tgtEl>
                                    <p:spTgt spid="12"/>
                                  </p:tgtEl>
                                </p:cBhvr>
                              </p:animEffect>
                              <p:set>
                                <p:cBhvr>
                                  <p:cTn id="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5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6" presetID="10" presetClass="entr" presetSubtype="0" fill="hold" grpId="0" nodeType="afterEffect">
                            <p:stCondLst>
                              <p:cond delay="3150"/>
                            </p:stCondLst>
                            <p:childTnLst>
                              <p:set>
                                <p:cBhvr>
                                  <p:cTn id="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8" dur="500"/>
                                  <p:tgtEl>
                                    <p:spTgt spid="14"/>
                                  </p:tgtEl>
                                </p:cBhvr>
                              </p:animEffect>
                              <p:set>
                                <p:cBhvr>
                                  <p:cTn id="3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0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1" presetID="10" presetClass="entr" presetSubtype="0" fill="hold" grpId="0" nodeType="afterEffect">
                            <p:stCondLst>
                              <p:cond delay="3500"/>
                            </p:stCondLst>
                            <p:childTnLst>
                              <p:set>
                                <p:cBhvr>
                                  <p:cTn id="4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3" dur="5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4" presetID="10" presetClass="entr" presetSubtype="0" fill="hold" grpId="0" nodeType="afterEffect">
                            <p:stCondLst>
                              <p:cond delay="3850"/>
                            </p:stCondLst>
                            <p:childTnLs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6" dur="5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7" presetID="10" presetClass="entr" presetSubtype="0" fill="hold" grpId="0" nodeType="afterEffect">
                            <p:stCondLst>
                              <p:cond delay="4200"/>
                            </p:stCondLst>
                            <p:childTnLst>
                              <p:set>
                                <p:cBhvr>
                                  <p:cTn id="4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9" dur="500"/>
                                  <p:tgtEl>
                                    <p:spTgt spid="20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0" presetID="10" presetClass="entr" presetSubtype="0" fill="hold" grpId="0" nodeType="afterEffect">
                            <p:stCondLst>
                              <p:cond delay="4550"/>
                            </p:stCondLst>
                            <p:childTnLst>
                              <p:set>
                                <p:cBhvr>
                                  <p:cTn id="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2" dur="500"/>
                                  <p:tgtEl>
                                    <p:spTgt spid="20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FFE3D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820" y="661660"/>
            <a:ext cx="249448" cy="2494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3312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A DEMO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353312" y="758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40080" y="123444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3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Gradio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640080" y="1938528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spc="5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UI without building a UI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40080" y="2468880"/>
            <a:ext cx="6492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23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trained model sitting in a Jupyter notebook is basically invisible — nobody can ‘see’ model.predict().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40080" y="3749040"/>
            <a:ext cx="6492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23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Wait… it can do that?  </a:t>
            </a:r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23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gr.Interface() looks at your function and auto-builds the whole UI for you — sliders, image upload, even webcam or mic input — and share=True hands you a public link in seconds.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40080" y="521208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i="1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Worth knowing — </a:t>
            </a:r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free public link expires after a few days — grab a fresh one right before demo day.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543800" y="1188720"/>
            <a:ext cx="3931920" cy="2743200"/>
          </a:xfrm>
          <a:prstGeom prst="roundRect">
            <a:avLst>
              <a:gd name="adj" fmla="val 4667"/>
            </a:avLst>
          </a:prstGeom>
          <a:solidFill>
            <a:srgbClr val="F5F3FB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818120" y="1417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FEATURE THAT SOLD ME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818120" y="173736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i="1" dirty="0">
                <a:solidFill>
                  <a:srgbClr val="23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deployment, no server. A working, shareable demo from under 10 lines of code.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7543800" y="4160520"/>
            <a:ext cx="3931920" cy="868680"/>
          </a:xfrm>
          <a:prstGeom prst="roundRect">
            <a:avLst>
              <a:gd name="adj" fmla="val 12632"/>
            </a:avLst>
          </a:prstGeom>
          <a:solidFill>
            <a:srgbClr val="FFEFEA"/>
          </a:solidFill>
          <a:ln/>
        </p:spPr>
      </p:sp>
      <p:sp>
        <p:nvSpPr>
          <p:cNvPr id="15" name="Text 12"/>
          <p:cNvSpPr/>
          <p:nvPr/>
        </p:nvSpPr>
        <p:spPr>
          <a:xfrm>
            <a:off x="7799832" y="4288536"/>
            <a:ext cx="341985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i="1" dirty="0">
                <a:solidFill>
                  <a:srgbClr val="B84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honestly didn’t know this existed. Using it, no question.”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MAKING A DEMO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15665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HIDDEN ML ECOSYSTEM</a:t>
            </a:r>
            <a:endParaRPr lang="en-US" sz="900" dirty="0"/>
          </a:p>
        </p:txBody>
      </p:sp>
      <p:sp>
        <p:nvSpPr>
          <p:cNvPr id="201" name="Badge201"/>
          <p:cNvSpPr/>
          <p:nvPr/>
        </p:nvSpPr>
        <p:spPr>
          <a:xfrm>
            <a:off x="9522280" y="685800"/>
            <a:ext cx="658000" cy="320040"/>
          </a:xfrm>
          <a:prstGeom prst="roundRect">
            <a:avLst>
              <a:gd name="adj" fmla="val 50000"/>
            </a:avLst>
          </a:prstGeom>
          <a:solidFill>
            <a:srgbClr val="FFEF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84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🆓 Free</a:t>
            </a:r>
            <a:endParaRPr lang="en-US" sz="950" dirty="0"/>
          </a:p>
        </p:txBody>
      </p:sp>
      <p:sp>
        <p:nvSpPr>
          <p:cNvPr id="202" name="Badge202"/>
          <p:cNvSpPr/>
          <p:nvPr/>
        </p:nvSpPr>
        <p:spPr>
          <a:xfrm>
            <a:off x="10271720" y="685800"/>
            <a:ext cx="1204000" cy="320040"/>
          </a:xfrm>
          <a:prstGeom prst="roundRect">
            <a:avLst>
              <a:gd name="adj" fmla="val 50000"/>
            </a:avLst>
          </a:prstGeom>
          <a:solidFill>
            <a:srgbClr val="FFEF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84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Saves Hours</a:t>
            </a:r>
            <a:endParaRPr lang="en-US" sz="9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" dur="500"/>
                                  <p:tgtEl>
                                    <p:spTgt spid="2"/>
                                  </p:tgtEl>
                                </p:cBhvr>
                              </p:animEffec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presetID="10" presetClass="entr" presetSubtype="0" fill="hold" grpId="0" nodeType="after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presetID="10" presetClass="entr" presetSubtype="0" fill="hold" grpId="0" nodeType="after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presetID="10" presetClass="entr" presetSubtype="0" fill="hold" grpId="0" nodeType="afterEffect">
                            <p:stCondLst>
                              <p:cond delay="10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presetID="10" presetClass="entr" presetSubtype="0" fill="hold" grpId="0" nodeType="afterEffect">
                            <p:stCondLst>
                              <p:cond delay="140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presetID="10" presetClass="entr" presetSubtype="0" fill="hold" grpId="0" nodeType="afterEffect">
                            <p:stCondLst>
                              <p:cond delay="175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presetID="10" presetClass="entr" presetSubtype="0" fill="hold" grpId="0" nodeType="afterEffect">
                            <p:stCondLst>
                              <p:cond delay="210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presetID="10" presetClass="entr" presetSubtype="0" fill="hold" grpId="0" nodeType="afterEffect">
                            <p:stCondLst>
                              <p:cond delay="245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8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presetID="10" presetClass="entr" presetSubtype="0" fill="hold" grpId="0" nodeType="afterEffect">
                            <p:stCondLst>
                              <p:cond delay="280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" dur="500"/>
                                  <p:tgtEl>
                                    <p:spTgt spid="11"/>
                                  </p:tgtEl>
                                </p:cBhvr>
                              </p:animEffec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500"/>
                                  <p:tgtEl>
                                    <p:spTgt spid="12"/>
                                  </p:tgtEl>
                                </p:cBhvr>
                              </p:animEffect>
                              <p:set>
                                <p:cBhvr>
                                  <p:cTn id="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5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6" presetID="10" presetClass="entr" presetSubtype="0" fill="hold" grpId="0" nodeType="afterEffect">
                            <p:stCondLst>
                              <p:cond delay="3150"/>
                            </p:stCondLst>
                            <p:childTnLst>
                              <p:set>
                                <p:cBhvr>
                                  <p:cTn id="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8" dur="500"/>
                                  <p:tgtEl>
                                    <p:spTgt spid="14"/>
                                  </p:tgtEl>
                                </p:cBhvr>
                              </p:animEffect>
                              <p:set>
                                <p:cBhvr>
                                  <p:cTn id="3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0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1" presetID="10" presetClass="entr" presetSubtype="0" fill="hold" grpId="0" nodeType="afterEffect">
                            <p:stCondLst>
                              <p:cond delay="3500"/>
                            </p:stCondLst>
                            <p:childTnLst>
                              <p:set>
                                <p:cBhvr>
                                  <p:cTn id="4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3" dur="5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4" presetID="10" presetClass="entr" presetSubtype="0" fill="hold" grpId="0" nodeType="afterEffect">
                            <p:stCondLst>
                              <p:cond delay="3850"/>
                            </p:stCondLst>
                            <p:childTnLs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6" dur="5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7" presetID="10" presetClass="entr" presetSubtype="0" fill="hold" grpId="0" nodeType="afterEffect">
                            <p:stCondLst>
                              <p:cond delay="4200"/>
                            </p:stCondLst>
                            <p:childTnLst>
                              <p:set>
                                <p:cBhvr>
                                  <p:cTn id="4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9" dur="500"/>
                                  <p:tgtEl>
                                    <p:spTgt spid="20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0" presetID="10" presetClass="entr" presetSubtype="0" fill="hold" grpId="0" nodeType="afterEffect">
                            <p:stCondLst>
                              <p:cond delay="4550"/>
                            </p:stCondLst>
                            <p:childTnLst>
                              <p:set>
                                <p:cBhvr>
                                  <p:cTn id="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2" dur="500"/>
                                  <p:tgtEl>
                                    <p:spTgt spid="20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 WHAT THIS DOES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You’ll train 20-something versions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your model this project.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37033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8A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exactly are you planning to remember which settings gave you the best one?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4251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 honest — a notebook titled final_v2_REAL_FINAL, right?)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B8A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BREAK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15665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B8A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HIDDEN ML ECOSYSTEM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presetID="10" presetClass="entr" presetSubtype="0" fill="hold" grpId="0" nodeType="after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presetID="10" presetClass="entr" presetSubtype="0" fill="hold" grpId="0" nodeType="after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presetID="10" presetClass="entr" presetSubtype="0" fill="hold" grpId="0" nodeType="afterEffect">
                            <p:stCondLst>
                              <p:cond delay="105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presetID="10" presetClass="entr" presetSubtype="0" fill="hold" grpId="0" nodeType="afterEffect">
                            <p:stCondLst>
                              <p:cond delay="140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19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84687" y="502920"/>
            <a:ext cx="566928" cy="566928"/>
          </a:xfrm>
          <a:prstGeom prst="ellipse">
            <a:avLst/>
          </a:prstGeom>
          <a:solidFill>
            <a:srgbClr val="FFE3D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3427" y="661660"/>
            <a:ext cx="249448" cy="2494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892040" y="5303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TRACK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892040" y="804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074920" y="123444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23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Weights &amp; Biases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5074920" y="1938528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i="1" spc="5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tracking that runs itself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074920" y="2468880"/>
            <a:ext cx="6492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23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problem as last slide — except this one also runs the search for you, not just the logging.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5074920" y="3749040"/>
            <a:ext cx="6492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23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Wait… it can do that?  </a:t>
            </a:r>
            <a:pPr algn="r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23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runs a hyperparameter sweep across hundreds of combinations in parallel, then shows a live ‘parallel coordinates’ plot of which settings actually mattered. It does the grid search AND the analysis.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5074920" y="521208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250" b="1" i="1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Worth knowing — </a:t>
            </a:r>
            <a:pPr algn="r"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a small learning curve reading the dashboards the first time.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0080" y="1188720"/>
            <a:ext cx="3931920" cy="2743200"/>
          </a:xfrm>
          <a:prstGeom prst="roundRect">
            <a:avLst>
              <a:gd name="adj" fmla="val 4667"/>
            </a:avLst>
          </a:prstGeom>
          <a:solidFill>
            <a:srgbClr val="F5F3FB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914400" y="1417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FEATURE THAT SOLD ME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914400" y="173736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i="1" dirty="0">
                <a:solidFill>
                  <a:srgbClr val="23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 for students, and used by basically every lab you'd recognize the name of.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640080" y="4160520"/>
            <a:ext cx="3931920" cy="868680"/>
          </a:xfrm>
          <a:prstGeom prst="roundRect">
            <a:avLst>
              <a:gd name="adj" fmla="val 12632"/>
            </a:avLst>
          </a:prstGeom>
          <a:solidFill>
            <a:srgbClr val="FFEFEA"/>
          </a:solidFill>
          <a:ln/>
        </p:spPr>
      </p:sp>
      <p:sp>
        <p:nvSpPr>
          <p:cNvPr id="15" name="Text 12"/>
          <p:cNvSpPr/>
          <p:nvPr/>
        </p:nvSpPr>
        <p:spPr>
          <a:xfrm>
            <a:off x="896112" y="4288536"/>
            <a:ext cx="341985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i="1" dirty="0">
                <a:solidFill>
                  <a:srgbClr val="B84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“Completely changed how I think about tracking runs. Starting from run #1.”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KEEPING TRACK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15665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HIDDEN ML ECOSYSTEM</a:t>
            </a:r>
            <a:endParaRPr lang="en-US" sz="900" dirty="0"/>
          </a:p>
        </p:txBody>
      </p:sp>
      <p:sp>
        <p:nvSpPr>
          <p:cNvPr id="201" name="Badge201"/>
          <p:cNvSpPr/>
          <p:nvPr/>
        </p:nvSpPr>
        <p:spPr>
          <a:xfrm>
            <a:off x="640080" y="685800"/>
            <a:ext cx="1672000" cy="320040"/>
          </a:xfrm>
          <a:prstGeom prst="roundRect">
            <a:avLst>
              <a:gd name="adj" fmla="val 50000"/>
            </a:avLst>
          </a:prstGeom>
          <a:solidFill>
            <a:srgbClr val="FFEF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84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🆓 Free for Students</a:t>
            </a:r>
            <a:endParaRPr lang="en-US" sz="950" dirty="0"/>
          </a:p>
        </p:txBody>
      </p:sp>
      <p:sp>
        <p:nvSpPr>
          <p:cNvPr id="202" name="Badge202"/>
          <p:cNvSpPr/>
          <p:nvPr/>
        </p:nvSpPr>
        <p:spPr>
          <a:xfrm>
            <a:off x="2403520" y="685800"/>
            <a:ext cx="1360000" cy="320040"/>
          </a:xfrm>
          <a:prstGeom prst="roundRect">
            <a:avLst>
              <a:gd name="adj" fmla="val 50000"/>
            </a:avLst>
          </a:prstGeom>
          <a:solidFill>
            <a:srgbClr val="FFEF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84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Industry Used</a:t>
            </a:r>
            <a:endParaRPr lang="en-US" sz="9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" dur="500"/>
                                  <p:tgtEl>
                                    <p:spTgt spid="2"/>
                                  </p:tgtEl>
                                </p:cBhvr>
                              </p:animEffec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presetID="10" presetClass="entr" presetSubtype="0" fill="hold" grpId="0" nodeType="after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presetID="10" presetClass="entr" presetSubtype="0" fill="hold" grpId="0" nodeType="after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presetID="10" presetClass="entr" presetSubtype="0" fill="hold" grpId="0" nodeType="afterEffect">
                            <p:stCondLst>
                              <p:cond delay="10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presetID="10" presetClass="entr" presetSubtype="0" fill="hold" grpId="0" nodeType="afterEffect">
                            <p:stCondLst>
                              <p:cond delay="140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presetID="10" presetClass="entr" presetSubtype="0" fill="hold" grpId="0" nodeType="afterEffect">
                            <p:stCondLst>
                              <p:cond delay="175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presetID="10" presetClass="entr" presetSubtype="0" fill="hold" grpId="0" nodeType="afterEffect">
                            <p:stCondLst>
                              <p:cond delay="210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presetID="10" presetClass="entr" presetSubtype="0" fill="hold" grpId="0" nodeType="afterEffect">
                            <p:stCondLst>
                              <p:cond delay="245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8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presetID="10" presetClass="entr" presetSubtype="0" fill="hold" grpId="0" nodeType="afterEffect">
                            <p:stCondLst>
                              <p:cond delay="280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" dur="500"/>
                                  <p:tgtEl>
                                    <p:spTgt spid="11"/>
                                  </p:tgtEl>
                                </p:cBhvr>
                              </p:animEffec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500"/>
                                  <p:tgtEl>
                                    <p:spTgt spid="12"/>
                                  </p:tgtEl>
                                </p:cBhvr>
                              </p:animEffect>
                              <p:set>
                                <p:cBhvr>
                                  <p:cTn id="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5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6" presetID="10" presetClass="entr" presetSubtype="0" fill="hold" grpId="0" nodeType="afterEffect">
                            <p:stCondLst>
                              <p:cond delay="3150"/>
                            </p:stCondLst>
                            <p:childTnLst>
                              <p:set>
                                <p:cBhvr>
                                  <p:cTn id="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8" dur="500"/>
                                  <p:tgtEl>
                                    <p:spTgt spid="14"/>
                                  </p:tgtEl>
                                </p:cBhvr>
                              </p:animEffect>
                              <p:set>
                                <p:cBhvr>
                                  <p:cTn id="3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0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1" presetID="10" presetClass="entr" presetSubtype="0" fill="hold" grpId="0" nodeType="afterEffect">
                            <p:stCondLst>
                              <p:cond delay="3500"/>
                            </p:stCondLst>
                            <p:childTnLst>
                              <p:set>
                                <p:cBhvr>
                                  <p:cTn id="4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3" dur="5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4" presetID="10" presetClass="entr" presetSubtype="0" fill="hold" grpId="0" nodeType="afterEffect">
                            <p:stCondLst>
                              <p:cond delay="3850"/>
                            </p:stCondLst>
                            <p:childTnLs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6" dur="5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7" presetID="10" presetClass="entr" presetSubtype="0" fill="hold" grpId="0" nodeType="afterEffect">
                            <p:stCondLst>
                              <p:cond delay="4200"/>
                            </p:stCondLst>
                            <p:childTnLst>
                              <p:set>
                                <p:cBhvr>
                                  <p:cTn id="4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9" dur="500"/>
                                  <p:tgtEl>
                                    <p:spTgt spid="20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0" presetID="10" presetClass="entr" presetSubtype="0" fill="hold" grpId="0" nodeType="afterEffect">
                            <p:stCondLst>
                              <p:cond delay="4550"/>
                            </p:stCondLst>
                            <p:childTnLst>
                              <p:set>
                                <p:cBhvr>
                                  <p:cTn id="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2" dur="500"/>
                                  <p:tgtEl>
                                    <p:spTgt spid="20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EXPLORING LATER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3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Things I bookmarked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23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a future rabbit hole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5F3FB"/>
          </a:solidFill>
          <a:ln/>
        </p:spPr>
      </p:sp>
      <p:sp>
        <p:nvSpPr>
          <p:cNvPr id="5" name="Shape 3"/>
          <p:cNvSpPr/>
          <p:nvPr/>
        </p:nvSpPr>
        <p:spPr>
          <a:xfrm>
            <a:off x="1659636" y="2624328"/>
            <a:ext cx="566928" cy="566928"/>
          </a:xfrm>
          <a:prstGeom prst="ellipse">
            <a:avLst/>
          </a:prstGeom>
          <a:solidFill>
            <a:srgbClr val="EAE6F7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8376" y="2783068"/>
            <a:ext cx="249448" cy="2494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3375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Roboflow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3840480"/>
            <a:ext cx="2240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Genuinely cool for computer vision — but overkill if your project isn’t CV.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29000" y="233172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5F3FB"/>
          </a:solidFill>
          <a:ln/>
        </p:spPr>
      </p:sp>
      <p:sp>
        <p:nvSpPr>
          <p:cNvPr id="10" name="Shape 7"/>
          <p:cNvSpPr/>
          <p:nvPr/>
        </p:nvSpPr>
        <p:spPr>
          <a:xfrm>
            <a:off x="4448556" y="2624328"/>
            <a:ext cx="566928" cy="566928"/>
          </a:xfrm>
          <a:prstGeom prst="ellipse">
            <a:avLst/>
          </a:prstGeom>
          <a:solidFill>
            <a:srgbClr val="EAE6F7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7296" y="2783068"/>
            <a:ext cx="249448" cy="2494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0" y="33375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DVC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611880" y="3840480"/>
            <a:ext cx="2240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teams versioning huge datasets across many commits. Too much machinery for a solo three-week push.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17920" y="233172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5F3FB"/>
          </a:solidFill>
          <a:ln/>
        </p:spPr>
      </p:sp>
      <p:sp>
        <p:nvSpPr>
          <p:cNvPr id="15" name="Shape 11"/>
          <p:cNvSpPr/>
          <p:nvPr/>
        </p:nvSpPr>
        <p:spPr>
          <a:xfrm>
            <a:off x="7237476" y="2624328"/>
            <a:ext cx="566928" cy="566928"/>
          </a:xfrm>
          <a:prstGeom prst="ellipse">
            <a:avLst/>
          </a:prstGeom>
          <a:solidFill>
            <a:srgbClr val="EAE6F7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6216" y="2783068"/>
            <a:ext cx="249448" cy="2494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55080" y="33375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HF AutoTrain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400800" y="3840480"/>
            <a:ext cx="2240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Zero-code fine-tuning sounds great, but felt like a rabbit hole inside the rabbit hole. Saving it.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006840" y="233172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5F3FB"/>
          </a:solidFill>
          <a:ln/>
        </p:spPr>
      </p:sp>
      <p:sp>
        <p:nvSpPr>
          <p:cNvPr id="20" name="Shape 15"/>
          <p:cNvSpPr/>
          <p:nvPr/>
        </p:nvSpPr>
        <p:spPr>
          <a:xfrm>
            <a:off x="10026396" y="2624328"/>
            <a:ext cx="566928" cy="566928"/>
          </a:xfrm>
          <a:prstGeom prst="ellipse">
            <a:avLst/>
          </a:prstGeom>
          <a:solidFill>
            <a:srgbClr val="EAE6F7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5136" y="2783068"/>
            <a:ext cx="249448" cy="2494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44000" y="33375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 Studio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189720" y="3840480"/>
            <a:ext cx="2240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labeling raw data by hand. Most of us are working off public datasets, so — skipping.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WORTH EXPLORING LATER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615665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HIDDEN ML ECOSYSTEM</a:t>
            </a:r>
            <a:endParaRPr lang="en-US" sz="900" dirty="0"/>
          </a:p>
        </p:txBody>
      </p:sp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presetID="10" presetClass="entr" presetSubtype="0" fill="hold" grpId="0" nodeType="after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presetID="10" presetClass="entr" presetSubtype="0" fill="hold" grpId="0" nodeType="after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500"/>
                                  <p:tgtEl>
                                    <p:spTgt spid="4"/>
                                  </p:tgtEl>
                                </p:cBhvr>
                              </p:animEffec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500"/>
                                  <p:tgtEl>
                                    <p:spTgt spid="5"/>
                                  </p:tgtEl>
                                </p:cBhvr>
                              </p:animEffec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/>
                                  <p:tgtEl>
                                    <p:spTgt spid="6"/>
                                  </p:tgtEl>
                                </p:cBhvr>
                              </p:animEffec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500"/>
                                  <p:tgtEl>
                                    <p:spTgt spid="7"/>
                                  </p:tgtEl>
                                </p:cBhvr>
                              </p:animEffec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presetID="10" presetClass="entr" presetSubtype="0" fill="hold" grpId="0" nodeType="afterEffect">
                            <p:stCondLst>
                              <p:cond delay="105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500"/>
                                  <p:tgtEl>
                                    <p:spTgt spid="9"/>
                                  </p:tgtEl>
                                </p:cBhvr>
                              </p:animEffec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500"/>
                                  <p:tgtEl>
                                    <p:spTgt spid="10"/>
                                  </p:tgtEl>
                                </p:cBhvr>
                              </p:animEffec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500"/>
                                  <p:tgtEl>
                                    <p:spTgt spid="11"/>
                                  </p:tgtEl>
                                </p:cBhvr>
                              </p:animEffec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8" dur="500"/>
                                  <p:tgtEl>
                                    <p:spTgt spid="12"/>
                                  </p:tgtEl>
                                </p:cBhvr>
                              </p:animEffec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grpId="0" nodeType="afterEffect">
                            <p:stCondLst>
                              <p:cond delay="140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500"/>
                                  <p:tgtEl>
                                    <p:spTgt spid="14"/>
                                  </p:tgtEl>
                                </p:cBhvr>
                              </p:animEffect>
                              <p:set>
                                <p:cBhvr>
                                  <p:cTn id="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5" dur="500"/>
                                  <p:tgtEl>
                                    <p:spTgt spid="15"/>
                                  </p:tgtEl>
                                </p:cBhvr>
                              </p:animEffect>
                              <p:set>
                                <p:cBhvr>
                                  <p:cTn id="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7" dur="500"/>
                                  <p:tgtEl>
                                    <p:spTgt spid="16"/>
                                  </p:tgtEl>
                                </p:cBhvr>
                              </p:animEffec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500"/>
                                  <p:tgtEl>
                                    <p:spTgt spid="17"/>
                                  </p:tgtEl>
                                </p:cBhvr>
                              </p:animEffect>
                              <p:set>
                                <p:cBhvr>
                                  <p:cTn id="4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1" dur="5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2" presetID="10" presetClass="entr" presetSubtype="0" fill="hold" grpId="0" nodeType="afterEffect">
                            <p:stCondLst>
                              <p:cond delay="1750"/>
                            </p:stCondLst>
                            <p:childTnLst>
                              <p:set>
                                <p:cBhvr>
                                  <p:cTn id="4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4" dur="500"/>
                                  <p:tgtEl>
                                    <p:spTgt spid="19"/>
                                  </p:tgtEl>
                                </p:cBhvr>
                              </p:animEffec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6" dur="500"/>
                                  <p:tgtEl>
                                    <p:spTgt spid="20"/>
                                  </p:tgtEl>
                                </p:cBhvr>
                              </p:animEffec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500"/>
                                  <p:tgtEl>
                                    <p:spTgt spid="21"/>
                                  </p:tgtEl>
                                </p:cBhvr>
                              </p:animEffec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500"/>
                                  <p:tgtEl>
                                    <p:spTgt spid="22"/>
                                  </p:tgtEl>
                                </p:cBhvr>
                              </p:animEffect>
                              <p:set>
                                <p:cBhvr>
                                  <p:cTn id="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2" dur="5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3" presetID="10" presetClass="entr" presetSubtype="0" fill="hold" grpId="0" nodeType="afterEffect">
                            <p:stCondLst>
                              <p:cond delay="210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50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afterEffect">
                            <p:stCondLst>
                              <p:cond delay="245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50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C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PERSONAL TOOLKIT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six I’m actually planning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use in our final project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423160"/>
            <a:ext cx="3429000" cy="1417320"/>
          </a:xfrm>
          <a:prstGeom prst="roundRect">
            <a:avLst>
              <a:gd name="adj" fmla="val 7742"/>
            </a:avLst>
          </a:prstGeom>
          <a:solidFill>
            <a:srgbClr val="281F44"/>
          </a:solidFill>
          <a:ln/>
        </p:spPr>
      </p:sp>
      <p:sp>
        <p:nvSpPr>
          <p:cNvPr id="5" name="Shape 3"/>
          <p:cNvSpPr/>
          <p:nvPr/>
        </p:nvSpPr>
        <p:spPr>
          <a:xfrm>
            <a:off x="1024128" y="2811780"/>
            <a:ext cx="640080" cy="640080"/>
          </a:xfrm>
          <a:prstGeom prst="ellipse">
            <a:avLst/>
          </a:prstGeom>
          <a:solidFill>
            <a:srgbClr val="3A2F5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3350" y="2991002"/>
            <a:ext cx="281635" cy="2816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6517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ydata-profiling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828800" y="31729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data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480560" y="2423160"/>
            <a:ext cx="3429000" cy="1417320"/>
          </a:xfrm>
          <a:prstGeom prst="roundRect">
            <a:avLst>
              <a:gd name="adj" fmla="val 7742"/>
            </a:avLst>
          </a:prstGeom>
          <a:solidFill>
            <a:srgbClr val="281F44"/>
          </a:solidFill>
          <a:ln/>
        </p:spPr>
      </p:sp>
      <p:sp>
        <p:nvSpPr>
          <p:cNvPr id="10" name="Shape 7"/>
          <p:cNvSpPr/>
          <p:nvPr/>
        </p:nvSpPr>
        <p:spPr>
          <a:xfrm>
            <a:off x="4681728" y="2811780"/>
            <a:ext cx="640080" cy="640080"/>
          </a:xfrm>
          <a:prstGeom prst="ellipse">
            <a:avLst/>
          </a:prstGeom>
          <a:solidFill>
            <a:srgbClr val="3A2F5E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950" y="2991002"/>
            <a:ext cx="281635" cy="28163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26517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Cleanlab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5486400" y="31729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data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38160" y="2423160"/>
            <a:ext cx="3429000" cy="1417320"/>
          </a:xfrm>
          <a:prstGeom prst="roundRect">
            <a:avLst>
              <a:gd name="adj" fmla="val 7742"/>
            </a:avLst>
          </a:prstGeom>
          <a:solidFill>
            <a:srgbClr val="281F44"/>
          </a:solidFill>
          <a:ln/>
        </p:spPr>
      </p:sp>
      <p:sp>
        <p:nvSpPr>
          <p:cNvPr id="15" name="Shape 11"/>
          <p:cNvSpPr/>
          <p:nvPr/>
        </p:nvSpPr>
        <p:spPr>
          <a:xfrm>
            <a:off x="8339328" y="2811780"/>
            <a:ext cx="640080" cy="640080"/>
          </a:xfrm>
          <a:prstGeom prst="ellipse">
            <a:avLst/>
          </a:prstGeom>
          <a:solidFill>
            <a:srgbClr val="3A2F5E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8550" y="2991002"/>
            <a:ext cx="281635" cy="28163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44000" y="26517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PyCaret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9144000" y="31729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faster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22960" y="4069080"/>
            <a:ext cx="3429000" cy="1417320"/>
          </a:xfrm>
          <a:prstGeom prst="roundRect">
            <a:avLst>
              <a:gd name="adj" fmla="val 7742"/>
            </a:avLst>
          </a:prstGeom>
          <a:solidFill>
            <a:srgbClr val="281F44"/>
          </a:solidFill>
          <a:ln/>
        </p:spPr>
      </p:sp>
      <p:sp>
        <p:nvSpPr>
          <p:cNvPr id="20" name="Shape 15"/>
          <p:cNvSpPr/>
          <p:nvPr/>
        </p:nvSpPr>
        <p:spPr>
          <a:xfrm>
            <a:off x="1024128" y="4457700"/>
            <a:ext cx="640080" cy="640080"/>
          </a:xfrm>
          <a:prstGeom prst="ellipse">
            <a:avLst/>
          </a:prstGeom>
          <a:solidFill>
            <a:srgbClr val="3A2F5E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3350" y="4636922"/>
            <a:ext cx="281635" cy="28163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828800" y="42976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1828800" y="48188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explaining it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480560" y="4069080"/>
            <a:ext cx="3429000" cy="1417320"/>
          </a:xfrm>
          <a:prstGeom prst="roundRect">
            <a:avLst>
              <a:gd name="adj" fmla="val 7742"/>
            </a:avLst>
          </a:prstGeom>
          <a:solidFill>
            <a:srgbClr val="281F44"/>
          </a:solidFill>
          <a:ln/>
        </p:spPr>
      </p:sp>
      <p:sp>
        <p:nvSpPr>
          <p:cNvPr id="25" name="Shape 19"/>
          <p:cNvSpPr/>
          <p:nvPr/>
        </p:nvSpPr>
        <p:spPr>
          <a:xfrm>
            <a:off x="4681728" y="4457700"/>
            <a:ext cx="640080" cy="640080"/>
          </a:xfrm>
          <a:prstGeom prst="ellipse">
            <a:avLst/>
          </a:prstGeom>
          <a:solidFill>
            <a:srgbClr val="3A2F5E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0950" y="4636922"/>
            <a:ext cx="281635" cy="28163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86400" y="42976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Gradio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5486400" y="48188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a demo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138160" y="4069080"/>
            <a:ext cx="3429000" cy="1417320"/>
          </a:xfrm>
          <a:prstGeom prst="roundRect">
            <a:avLst>
              <a:gd name="adj" fmla="val 7742"/>
            </a:avLst>
          </a:prstGeom>
          <a:solidFill>
            <a:srgbClr val="281F44"/>
          </a:solidFill>
          <a:ln/>
        </p:spPr>
      </p:sp>
      <p:sp>
        <p:nvSpPr>
          <p:cNvPr id="30" name="Shape 23"/>
          <p:cNvSpPr/>
          <p:nvPr/>
        </p:nvSpPr>
        <p:spPr>
          <a:xfrm>
            <a:off x="8339328" y="4457700"/>
            <a:ext cx="640080" cy="640080"/>
          </a:xfrm>
          <a:prstGeom prst="ellipse">
            <a:avLst/>
          </a:prstGeom>
          <a:solidFill>
            <a:srgbClr val="3A2F5E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8550" y="4636922"/>
            <a:ext cx="281635" cy="28163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144000" y="42976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Weights &amp; Biases</a:t>
            </a:r>
            <a:endParaRPr lang="en-US" sz="1550" dirty="0"/>
          </a:p>
        </p:txBody>
      </p:sp>
      <p:sp>
        <p:nvSpPr>
          <p:cNvPr id="33" name="Text 25"/>
          <p:cNvSpPr/>
          <p:nvPr/>
        </p:nvSpPr>
        <p:spPr>
          <a:xfrm>
            <a:off x="9144000" y="48188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track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B8A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THE TOOLKIT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615665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B8A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HIDDEN ML ECOSYSTEM</a:t>
            </a:r>
            <a:endParaRPr lang="en-US" sz="900" dirty="0"/>
          </a:p>
        </p:txBody>
      </p:sp>
    </p:spTree>
  </p:cSld>
  <p:clrMapOvr>
    <a:masterClrMapping/>
  </p:clrMapOvr>
  <p:transition spd="slow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presetID="10" presetClass="entr" presetSubtype="0" fill="hold" grpId="0" nodeType="after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presetID="10" presetClass="entr" presetSubtype="0" fill="hold" grpId="0" nodeType="after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500"/>
                                  <p:tgtEl>
                                    <p:spTgt spid="4"/>
                                  </p:tgtEl>
                                </p:cBhvr>
                              </p:animEffec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500"/>
                                  <p:tgtEl>
                                    <p:spTgt spid="5"/>
                                  </p:tgtEl>
                                </p:cBhvr>
                              </p:animEffec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/>
                                  <p:tgtEl>
                                    <p:spTgt spid="6"/>
                                  </p:tgtEl>
                                </p:cBhvr>
                              </p:animEffec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500"/>
                                  <p:tgtEl>
                                    <p:spTgt spid="7"/>
                                  </p:tgtEl>
                                </p:cBhvr>
                              </p:animEffec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presetID="10" presetClass="entr" presetSubtype="0" fill="hold" grpId="0" nodeType="afterEffect">
                            <p:stCondLst>
                              <p:cond delay="105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500"/>
                                  <p:tgtEl>
                                    <p:spTgt spid="9"/>
                                  </p:tgtEl>
                                </p:cBhvr>
                              </p:animEffec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500"/>
                                  <p:tgtEl>
                                    <p:spTgt spid="10"/>
                                  </p:tgtEl>
                                </p:cBhvr>
                              </p:animEffec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500"/>
                                  <p:tgtEl>
                                    <p:spTgt spid="11"/>
                                  </p:tgtEl>
                                </p:cBhvr>
                              </p:animEffec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8" dur="500"/>
                                  <p:tgtEl>
                                    <p:spTgt spid="12"/>
                                  </p:tgtEl>
                                </p:cBhvr>
                              </p:animEffec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grpId="0" nodeType="afterEffect">
                            <p:stCondLst>
                              <p:cond delay="140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500"/>
                                  <p:tgtEl>
                                    <p:spTgt spid="14"/>
                                  </p:tgtEl>
                                </p:cBhvr>
                              </p:animEffect>
                              <p:set>
                                <p:cBhvr>
                                  <p:cTn id="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5" dur="500"/>
                                  <p:tgtEl>
                                    <p:spTgt spid="15"/>
                                  </p:tgtEl>
                                </p:cBhvr>
                              </p:animEffect>
                              <p:set>
                                <p:cBhvr>
                                  <p:cTn id="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7" dur="500"/>
                                  <p:tgtEl>
                                    <p:spTgt spid="16"/>
                                  </p:tgtEl>
                                </p:cBhvr>
                              </p:animEffec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500"/>
                                  <p:tgtEl>
                                    <p:spTgt spid="17"/>
                                  </p:tgtEl>
                                </p:cBhvr>
                              </p:animEffect>
                              <p:set>
                                <p:cBhvr>
                                  <p:cTn id="4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1" dur="5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2" presetID="10" presetClass="entr" presetSubtype="0" fill="hold" grpId="0" nodeType="afterEffect">
                            <p:stCondLst>
                              <p:cond delay="1750"/>
                            </p:stCondLst>
                            <p:childTnLst>
                              <p:set>
                                <p:cBhvr>
                                  <p:cTn id="4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4" dur="500"/>
                                  <p:tgtEl>
                                    <p:spTgt spid="19"/>
                                  </p:tgtEl>
                                </p:cBhvr>
                              </p:animEffec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6" dur="500"/>
                                  <p:tgtEl>
                                    <p:spTgt spid="20"/>
                                  </p:tgtEl>
                                </p:cBhvr>
                              </p:animEffec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500"/>
                                  <p:tgtEl>
                                    <p:spTgt spid="21"/>
                                  </p:tgtEl>
                                </p:cBhvr>
                              </p:animEffec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500"/>
                                  <p:tgtEl>
                                    <p:spTgt spid="22"/>
                                  </p:tgtEl>
                                </p:cBhvr>
                              </p:animEffect>
                              <p:set>
                                <p:cBhvr>
                                  <p:cTn id="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2" dur="5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3" presetID="10" presetClass="entr" presetSubtype="0" fill="hold" grpId="0" nodeType="afterEffect">
                            <p:stCondLst>
                              <p:cond delay="210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500"/>
                                  <p:tgtEl>
                                    <p:spTgt spid="24"/>
                                  </p:tgtEl>
                                </p:cBhvr>
                              </p:animEffect>
                              <p:set>
                                <p:cBhvr>
                                  <p:cTn id="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7" dur="500"/>
                                  <p:tgtEl>
                                    <p:spTgt spid="25"/>
                                  </p:tgtEl>
                                </p:cBhvr>
                              </p:animEffect>
                              <p:set>
                                <p:cBhvr>
                                  <p:cTn id="5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9" dur="500"/>
                                  <p:tgtEl>
                                    <p:spTgt spid="26"/>
                                  </p:tgtEl>
                                </p:cBhvr>
                              </p:animEffect>
                              <p:set>
                                <p:cBhvr>
                                  <p:cTn id="6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" dur="500"/>
                                  <p:tgtEl>
                                    <p:spTgt spid="27"/>
                                  </p:tgtEl>
                                </p:cBhvr>
                              </p:animEffec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50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4" presetID="10" presetClass="entr" presetSubtype="0" fill="hold" grpId="0" nodeType="afterEffect">
                            <p:stCondLst>
                              <p:cond delay="245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500"/>
                                  <p:tgtEl>
                                    <p:spTgt spid="29"/>
                                  </p:tgtEl>
                                </p:cBhvr>
                              </p:animEffect>
                              <p:set>
                                <p:cBhvr>
                                  <p:cTn id="6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8" dur="500"/>
                                  <p:tgtEl>
                                    <p:spTgt spid="30"/>
                                  </p:tgtEl>
                                </p:cBhvr>
                              </p:animEffect>
                              <p:set>
                                <p:cBhvr>
                                  <p:cTn id="6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0" dur="500"/>
                                  <p:tgtEl>
                                    <p:spTgt spid="31"/>
                                  </p:tgtEl>
                                </p:cBhvr>
                              </p:animEffect>
                              <p:set>
                                <p:cBhvr>
                                  <p:cTn id="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2" dur="500"/>
                                  <p:tgtEl>
                                    <p:spTgt spid="32"/>
                                  </p:tgtEl>
                                </p:cBhvr>
                              </p:animEffect>
                              <p:set>
                                <p:cBhvr>
                                  <p:cTn id="7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4" dur="500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5" presetID="10" presetClass="entr" presetSubtype="0" fill="hold" grpId="0" nodeType="afterEffect">
                            <p:stCondLst>
                              <p:cond delay="2800"/>
                            </p:stCondLst>
                            <p:childTnLst>
                              <p:set>
                                <p:cBhvr>
                                  <p:cTn id="7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7" dur="500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8" presetID="10" presetClass="entr" presetSubtype="0" fill="hold" grpId="0" nodeType="afterEffect">
                            <p:stCondLst>
                              <p:cond delay="3150"/>
                            </p:stCondLst>
                            <p:childTnLst>
                              <p:set>
                                <p:cBhvr>
                                  <p:cTn id="7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0" dur="500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C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114800" cy="4114800"/>
          </a:xfrm>
          <a:prstGeom prst="ellipse">
            <a:avLst/>
          </a:prstGeom>
          <a:solidFill>
            <a:srgbClr val="281F44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840480"/>
            <a:ext cx="3657600" cy="3657600"/>
          </a:xfrm>
          <a:prstGeom prst="ellipse">
            <a:avLst/>
          </a:prstGeom>
          <a:solidFill>
            <a:srgbClr val="281F4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20240"/>
            <a:ext cx="10424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any of you find something even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cooler while building — tell me too.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37033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B8A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just what I found after one rabbit hole — yours might beat it.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6126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B8A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HIDDEN ML ECOSYSTEM</a:t>
            </a:r>
            <a:endParaRPr lang="en-US" sz="1100" dirty="0"/>
          </a:p>
        </p:txBody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presetID="10" presetClass="entr" presetSubtype="0" fill="hold" grpId="0" nodeType="after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presetID="10" presetClass="entr" presetSubtype="0" fill="hold" grpId="0" nodeType="after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Source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LIST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did I even find these?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didn’t Google “best ML tools.” I went to where ML engineers actually hang out.</a:t>
            </a:r>
            <a:endParaRPr lang="en-US" sz="1550" dirty="0"/>
          </a:p>
        </p:txBody>
      </p:sp>
      <p:sp>
        <p:nvSpPr>
          <p:cNvPr id="100" name="SrcCircle0"/>
          <p:cNvSpPr/>
          <p:nvPr/>
        </p:nvSpPr>
        <p:spPr>
          <a:xfrm>
            <a:off x="1551190" y="2606040"/>
            <a:ext cx="700000" cy="700000"/>
          </a:xfrm>
          <a:prstGeom prst="ellipse">
            <a:avLst/>
          </a:prstGeom>
          <a:solidFill>
            <a:srgbClr val="FFE3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</a:t>
            </a:r>
            <a:endParaRPr lang="en-US" sz="1500" dirty="0"/>
          </a:p>
        </p:txBody>
      </p:sp>
      <p:sp>
        <p:nvSpPr>
          <p:cNvPr id="101" name="SrcLabel0"/>
          <p:cNvSpPr/>
          <p:nvPr/>
        </p:nvSpPr>
        <p:spPr>
          <a:xfrm>
            <a:off x="640080" y="3397480"/>
            <a:ext cx="252222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</a:t>
            </a:r>
            <a:endParaRPr lang="en-US" sz="1300" dirty="0"/>
          </a:p>
        </p:txBody>
      </p:sp>
      <p:sp>
        <p:nvSpPr>
          <p:cNvPr id="102" name="SrcDesc0"/>
          <p:cNvSpPr/>
          <p:nvPr/>
        </p:nvSpPr>
        <p:spPr>
          <a:xfrm>
            <a:off x="640080" y="3723200"/>
            <a:ext cx="252222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trending repos &amp; real code</a:t>
            </a:r>
            <a:endParaRPr lang="en-US" sz="1000" dirty="0"/>
          </a:p>
        </p:txBody>
      </p:sp>
      <p:sp>
        <p:nvSpPr>
          <p:cNvPr id="104" name="SrcCircle1"/>
          <p:cNvSpPr/>
          <p:nvPr/>
        </p:nvSpPr>
        <p:spPr>
          <a:xfrm>
            <a:off x="4347730" y="2606040"/>
            <a:ext cx="700000" cy="700000"/>
          </a:xfrm>
          <a:prstGeom prst="ellipse">
            <a:avLst/>
          </a:prstGeom>
          <a:solidFill>
            <a:srgbClr val="EAE6F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</a:t>
            </a:r>
            <a:endParaRPr lang="en-US" sz="1500" dirty="0"/>
          </a:p>
        </p:txBody>
      </p:sp>
      <p:sp>
        <p:nvSpPr>
          <p:cNvPr id="105" name="SrcLabel1"/>
          <p:cNvSpPr/>
          <p:nvPr/>
        </p:nvSpPr>
        <p:spPr>
          <a:xfrm>
            <a:off x="3436620" y="3397480"/>
            <a:ext cx="252222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Hugging Face</a:t>
            </a:r>
            <a:endParaRPr lang="en-US" sz="1300" dirty="0"/>
          </a:p>
        </p:txBody>
      </p:sp>
      <p:sp>
        <p:nvSpPr>
          <p:cNvPr id="106" name="SrcDesc1"/>
          <p:cNvSpPr/>
          <p:nvPr/>
        </p:nvSpPr>
        <p:spPr>
          <a:xfrm>
            <a:off x="3436620" y="3723200"/>
            <a:ext cx="252222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models people actually use</a:t>
            </a:r>
            <a:endParaRPr lang="en-US" sz="1000" dirty="0"/>
          </a:p>
        </p:txBody>
      </p:sp>
      <p:sp>
        <p:nvSpPr>
          <p:cNvPr id="108" name="SrcCircle2"/>
          <p:cNvSpPr/>
          <p:nvPr/>
        </p:nvSpPr>
        <p:spPr>
          <a:xfrm>
            <a:off x="7144270" y="2606040"/>
            <a:ext cx="700000" cy="700000"/>
          </a:xfrm>
          <a:prstGeom prst="ellipse">
            <a:avLst/>
          </a:prstGeom>
          <a:solidFill>
            <a:srgbClr val="FFE3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PwC</a:t>
            </a:r>
            <a:endParaRPr lang="en-US" sz="1500" dirty="0"/>
          </a:p>
        </p:txBody>
      </p:sp>
      <p:sp>
        <p:nvSpPr>
          <p:cNvPr id="109" name="SrcLabel2"/>
          <p:cNvSpPr/>
          <p:nvPr/>
        </p:nvSpPr>
        <p:spPr>
          <a:xfrm>
            <a:off x="6233160" y="3397480"/>
            <a:ext cx="252222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Papers With Code</a:t>
            </a:r>
            <a:endParaRPr lang="en-US" sz="1300" dirty="0"/>
          </a:p>
        </p:txBody>
      </p:sp>
      <p:sp>
        <p:nvSpPr>
          <p:cNvPr id="110" name="SrcDesc2"/>
          <p:cNvSpPr/>
          <p:nvPr/>
        </p:nvSpPr>
        <p:spPr>
          <a:xfrm>
            <a:off x="6233160" y="3723200"/>
            <a:ext cx="252222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paired with working code</a:t>
            </a:r>
            <a:endParaRPr lang="en-US" sz="1000" dirty="0"/>
          </a:p>
        </p:txBody>
      </p:sp>
      <p:sp>
        <p:nvSpPr>
          <p:cNvPr id="112" name="SrcCircle3"/>
          <p:cNvSpPr/>
          <p:nvPr/>
        </p:nvSpPr>
        <p:spPr>
          <a:xfrm>
            <a:off x="9940810" y="2606040"/>
            <a:ext cx="700000" cy="700000"/>
          </a:xfrm>
          <a:prstGeom prst="ellipse">
            <a:avLst/>
          </a:prstGeom>
          <a:solidFill>
            <a:srgbClr val="EAE6F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</a:t>
            </a:r>
            <a:endParaRPr lang="en-US" sz="1500" dirty="0"/>
          </a:p>
        </p:txBody>
      </p:sp>
      <p:sp>
        <p:nvSpPr>
          <p:cNvPr id="113" name="SrcLabel3"/>
          <p:cNvSpPr/>
          <p:nvPr/>
        </p:nvSpPr>
        <p:spPr>
          <a:xfrm>
            <a:off x="9029700" y="3397480"/>
            <a:ext cx="252222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Kaggle</a:t>
            </a:r>
            <a:endParaRPr lang="en-US" sz="1300" dirty="0"/>
          </a:p>
        </p:txBody>
      </p:sp>
      <p:sp>
        <p:nvSpPr>
          <p:cNvPr id="114" name="SrcDesc3"/>
          <p:cNvSpPr/>
          <p:nvPr/>
        </p:nvSpPr>
        <p:spPr>
          <a:xfrm>
            <a:off x="9029700" y="3723200"/>
            <a:ext cx="252222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 from real competitions</a:t>
            </a:r>
            <a:endParaRPr lang="en-US" sz="1000" dirty="0"/>
          </a:p>
        </p:txBody>
      </p:sp>
      <p:sp>
        <p:nvSpPr>
          <p:cNvPr id="116" name="SrcCircle4"/>
          <p:cNvSpPr/>
          <p:nvPr/>
        </p:nvSpPr>
        <p:spPr>
          <a:xfrm>
            <a:off x="1551190" y="4523240"/>
            <a:ext cx="700000" cy="700000"/>
          </a:xfrm>
          <a:prstGeom prst="ellipse">
            <a:avLst/>
          </a:prstGeom>
          <a:solidFill>
            <a:srgbClr val="FFE3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r/</a:t>
            </a:r>
            <a:endParaRPr lang="en-US" sz="1500" dirty="0"/>
          </a:p>
        </p:txBody>
      </p:sp>
      <p:sp>
        <p:nvSpPr>
          <p:cNvPr id="117" name="SrcLabel4"/>
          <p:cNvSpPr/>
          <p:nvPr/>
        </p:nvSpPr>
        <p:spPr>
          <a:xfrm>
            <a:off x="640080" y="5314680"/>
            <a:ext cx="252222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Reddit</a:t>
            </a:r>
            <a:endParaRPr lang="en-US" sz="1300" dirty="0"/>
          </a:p>
        </p:txBody>
      </p:sp>
      <p:sp>
        <p:nvSpPr>
          <p:cNvPr id="118" name="SrcDesc4"/>
          <p:cNvSpPr/>
          <p:nvPr/>
        </p:nvSpPr>
        <p:spPr>
          <a:xfrm>
            <a:off x="640080" y="5640400"/>
            <a:ext cx="252222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r/MachineLearning, unfiltered</a:t>
            </a:r>
            <a:endParaRPr lang="en-US" sz="1000" dirty="0"/>
          </a:p>
        </p:txBody>
      </p:sp>
      <p:sp>
        <p:nvSpPr>
          <p:cNvPr id="120" name="SrcCircle5"/>
          <p:cNvSpPr/>
          <p:nvPr/>
        </p:nvSpPr>
        <p:spPr>
          <a:xfrm>
            <a:off x="4347730" y="4523240"/>
            <a:ext cx="700000" cy="700000"/>
          </a:xfrm>
          <a:prstGeom prst="ellipse">
            <a:avLst/>
          </a:prstGeom>
          <a:solidFill>
            <a:srgbClr val="EAE6F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</a:t>
            </a:r>
            <a:endParaRPr lang="en-US" sz="1500" dirty="0"/>
          </a:p>
        </p:txBody>
      </p:sp>
      <p:sp>
        <p:nvSpPr>
          <p:cNvPr id="121" name="SrcLabel5"/>
          <p:cNvSpPr/>
          <p:nvPr/>
        </p:nvSpPr>
        <p:spPr>
          <a:xfrm>
            <a:off x="3436620" y="5314680"/>
            <a:ext cx="252222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Hacker News</a:t>
            </a:r>
            <a:endParaRPr lang="en-US" sz="1300" dirty="0"/>
          </a:p>
        </p:txBody>
      </p:sp>
      <p:sp>
        <p:nvSpPr>
          <p:cNvPr id="122" name="SrcDesc5"/>
          <p:cNvSpPr/>
          <p:nvPr/>
        </p:nvSpPr>
        <p:spPr>
          <a:xfrm>
            <a:off x="3436620" y="5640400"/>
            <a:ext cx="252222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engineers are debating</a:t>
            </a:r>
            <a:endParaRPr lang="en-US" sz="1000" dirty="0"/>
          </a:p>
        </p:txBody>
      </p:sp>
      <p:sp>
        <p:nvSpPr>
          <p:cNvPr id="124" name="SrcCircle6"/>
          <p:cNvSpPr/>
          <p:nvPr/>
        </p:nvSpPr>
        <p:spPr>
          <a:xfrm>
            <a:off x="7144270" y="4523240"/>
            <a:ext cx="700000" cy="700000"/>
          </a:xfrm>
          <a:prstGeom prst="ellipse">
            <a:avLst/>
          </a:prstGeom>
          <a:solidFill>
            <a:srgbClr val="FFE3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</a:t>
            </a:r>
            <a:endParaRPr lang="en-US" sz="1500" dirty="0"/>
          </a:p>
        </p:txBody>
      </p:sp>
      <p:sp>
        <p:nvSpPr>
          <p:cNvPr id="125" name="SrcLabel6"/>
          <p:cNvSpPr/>
          <p:nvPr/>
        </p:nvSpPr>
        <p:spPr>
          <a:xfrm>
            <a:off x="6233160" y="5314680"/>
            <a:ext cx="252222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Docs</a:t>
            </a:r>
            <a:endParaRPr lang="en-US" sz="1300" dirty="0"/>
          </a:p>
        </p:txBody>
      </p:sp>
      <p:sp>
        <p:nvSpPr>
          <p:cNvPr id="126" name="SrcDesc6"/>
          <p:cNvSpPr/>
          <p:nvPr/>
        </p:nvSpPr>
        <p:spPr>
          <a:xfrm>
            <a:off x="6233160" y="5640400"/>
            <a:ext cx="252222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past the quickstart</a:t>
            </a:r>
            <a:endParaRPr lang="en-US" sz="1000" dirty="0"/>
          </a:p>
        </p:txBody>
      </p:sp>
      <p:sp>
        <p:nvSpPr>
          <p:cNvPr id="128" name="SrcCircle7"/>
          <p:cNvSpPr/>
          <p:nvPr/>
        </p:nvSpPr>
        <p:spPr>
          <a:xfrm>
            <a:off x="9940810" y="4523240"/>
            <a:ext cx="700000" cy="700000"/>
          </a:xfrm>
          <a:prstGeom prst="ellipse">
            <a:avLst/>
          </a:prstGeom>
          <a:solidFill>
            <a:srgbClr val="EAE6F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</a:t>
            </a:r>
            <a:endParaRPr lang="en-US" sz="1500" dirty="0"/>
          </a:p>
        </p:txBody>
      </p:sp>
      <p:sp>
        <p:nvSpPr>
          <p:cNvPr id="129" name="SrcLabel7"/>
          <p:cNvSpPr/>
          <p:nvPr/>
        </p:nvSpPr>
        <p:spPr>
          <a:xfrm>
            <a:off x="9029700" y="5314680"/>
            <a:ext cx="252222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 Blogs</a:t>
            </a:r>
            <a:endParaRPr lang="en-US" sz="1300" dirty="0"/>
          </a:p>
        </p:txBody>
      </p:sp>
      <p:sp>
        <p:nvSpPr>
          <p:cNvPr id="130" name="SrcDesc7"/>
          <p:cNvSpPr/>
          <p:nvPr/>
        </p:nvSpPr>
        <p:spPr>
          <a:xfrm>
            <a:off x="9029700" y="5640400"/>
            <a:ext cx="252222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post-mortems from real projects</a:t>
            </a:r>
            <a:endParaRPr lang="en-US" sz="1000" dirty="0"/>
          </a:p>
        </p:txBody>
      </p:sp>
      <p:sp>
        <p:nvSpPr>
          <p:cNvPr id="90" name="Text Footer L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WHERE I LOOKED</a:t>
            </a:r>
            <a:endParaRPr lang="en-US" sz="900" dirty="0"/>
          </a:p>
        </p:txBody>
      </p:sp>
      <p:sp>
        <p:nvSpPr>
          <p:cNvPr id="91" name="Text Footer R"/>
          <p:cNvSpPr/>
          <p:nvPr/>
        </p:nvSpPr>
        <p:spPr>
          <a:xfrm>
            <a:off x="615665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HIDDEN ML ECOSYSTEM</a:t>
            </a:r>
            <a:endParaRPr lang="en-US" sz="900" dirty="0"/>
          </a:p>
        </p:txBody>
      </p:sp>
    </p:spTree>
  </p:cSld>
  <p:clrMapOvr>
    <a:masterClrMapping/>
  </p:clrMapOvr>
  <p:transition spd="slow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4" fill="hold">
                      <p:stCondLst>
                        <p:cond delay="0"/>
                      </p:stCondLst>
                      <p:childTnLst>
                        <p:par>
                          <p:cTn id="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presetID="10" presetClass="entr" presetSubtype="0" fill="hold" grpId="0" nodeType="after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presetID="10" presetClass="entr" presetSubtype="0" fill="hold" grpId="0" nodeType="after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presetID="10" presetClass="entr" presetSubtype="0" fill="hold" grpId="0" nodeType="afterEffect">
                            <p:stCondLst>
                              <p:cond delay="105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500"/>
                                  <p:tgtEl>
                                    <p:spTgt spid="100"/>
                                  </p:tgtEl>
                                </p:cBhvr>
                              </p:animEffec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500"/>
                                  <p:tgtEl>
                                    <p:spTgt spid="101"/>
                                  </p:tgtEl>
                                </p:cBhvr>
                              </p:animEffec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500"/>
                                  <p:tgtEl>
                                    <p:spTgt spid="10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presetID="10" presetClass="entr" presetSubtype="0" fill="hold" grpId="0" nodeType="afterEffect">
                            <p:stCondLst>
                              <p:cond delay="140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500"/>
                                  <p:tgtEl>
                                    <p:spTgt spid="104"/>
                                  </p:tgtEl>
                                </p:cBhvr>
                              </p:animEffec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" dur="500"/>
                                  <p:tgtEl>
                                    <p:spTgt spid="105"/>
                                  </p:tgtEl>
                                </p:cBhvr>
                              </p:animEffec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" dur="500"/>
                                  <p:tgtEl>
                                    <p:spTgt spid="10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presetID="10" presetClass="entr" presetSubtype="0" fill="hold" grpId="0" nodeType="afterEffect">
                            <p:stCondLst>
                              <p:cond delay="175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8" dur="500"/>
                                  <p:tgtEl>
                                    <p:spTgt spid="108"/>
                                  </p:tgtEl>
                                </p:cBhvr>
                              </p:animEffec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500"/>
                                  <p:tgtEl>
                                    <p:spTgt spid="109"/>
                                  </p:tgtEl>
                                </p:cBhvr>
                              </p:animEffec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2" dur="500"/>
                                  <p:tgtEl>
                                    <p:spTgt spid="1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3" presetID="10" presetClass="entr" presetSubtype="0" fill="hold" grpId="0" nodeType="afterEffect">
                            <p:stCondLst>
                              <p:cond delay="2100"/>
                            </p:stCondLst>
                            <p:childTnLst>
                              <p:set>
                                <p:cBhvr>
                                  <p:cTn id="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5" dur="500"/>
                                  <p:tgtEl>
                                    <p:spTgt spid="112"/>
                                  </p:tgtEl>
                                </p:cBhvr>
                              </p:animEffect>
                              <p:set>
                                <p:cBhvr>
                                  <p:cTn id="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7" dur="500"/>
                                  <p:tgtEl>
                                    <p:spTgt spid="113"/>
                                  </p:tgtEl>
                                </p:cBhvr>
                              </p:animEffec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500"/>
                                  <p:tgtEl>
                                    <p:spTgt spid="1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10" presetClass="entr" presetSubtype="0" fill="hold" grpId="0" nodeType="afterEffect">
                            <p:stCondLst>
                              <p:cond delay="245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500"/>
                                  <p:tgtEl>
                                    <p:spTgt spid="116"/>
                                  </p:tgtEl>
                                </p:cBhvr>
                              </p:animEffect>
                              <p:set>
                                <p:cBhvr>
                                  <p:cTn id="4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4" dur="500"/>
                                  <p:tgtEl>
                                    <p:spTgt spid="117"/>
                                  </p:tgtEl>
                                </p:cBhvr>
                              </p:animEffec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6" dur="500"/>
                                  <p:tgtEl>
                                    <p:spTgt spid="1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7" presetID="10" presetClass="entr" presetSubtype="0" fill="hold" grpId="0" nodeType="afterEffect">
                            <p:stCondLst>
                              <p:cond delay="2800"/>
                            </p:stCondLst>
                            <p:childTnLst>
                              <p:set>
                                <p:cBhvr>
                                  <p:cTn id="4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9" dur="500"/>
                                  <p:tgtEl>
                                    <p:spTgt spid="120"/>
                                  </p:tgtEl>
                                </p:cBhvr>
                              </p:animEffec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500"/>
                                  <p:tgtEl>
                                    <p:spTgt spid="121"/>
                                  </p:tgtEl>
                                </p:cBhvr>
                              </p:animEffec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500"/>
                                  <p:tgtEl>
                                    <p:spTgt spid="1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4" presetID="10" presetClass="entr" presetSubtype="0" fill="hold" grpId="0" nodeType="afterEffect">
                            <p:stCondLst>
                              <p:cond delay="3150"/>
                            </p:stCondLst>
                            <p:childTnLst>
                              <p:set>
                                <p:cBhvr>
                                  <p:cTn id="5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6" dur="500"/>
                                  <p:tgtEl>
                                    <p:spTgt spid="124"/>
                                  </p:tgtEl>
                                </p:cBhvr>
                              </p:animEffec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500"/>
                                  <p:tgtEl>
                                    <p:spTgt spid="125"/>
                                  </p:tgtEl>
                                </p:cBhvr>
                              </p:animEffec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500"/>
                                  <p:tgtEl>
                                    <p:spTgt spid="1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afterEffect">
                            <p:stCondLst>
                              <p:cond delay="350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500"/>
                                  <p:tgtEl>
                                    <p:spTgt spid="128"/>
                                  </p:tgtEl>
                                </p:cBhvr>
                              </p:animEffect>
                              <p:set>
                                <p:cBhvr>
                                  <p:cTn id="6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5" dur="500"/>
                                  <p:tgtEl>
                                    <p:spTgt spid="129"/>
                                  </p:tgtEl>
                                </p:cBhvr>
                              </p:animEffect>
                              <p:set>
                                <p:cBhvr>
                                  <p:cTn id="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7" dur="500"/>
                                  <p:tgtEl>
                                    <p:spTgt spid="13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8" presetID="10" presetClass="entr" presetSubtype="0" fill="hold" grpId="0" nodeType="afterEffect">
                            <p:stCondLst>
                              <p:cond delay="3850"/>
                            </p:stCondLst>
                            <p:childTnLst>
                              <p:set>
                                <p:cBhvr>
                                  <p:cTn id="6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0" dur="500"/>
                                  <p:tgtEl>
                                    <p:spTgt spid="9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1" presetID="10" presetClass="entr" presetSubtype="0" fill="hold" grpId="0" nodeType="afterEffect">
                            <p:stCondLst>
                              <p:cond delay="4200"/>
                            </p:stCondLst>
                            <p:childTnLst>
                              <p:set>
                                <p:cBhvr>
                                  <p:cTn id="7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3" dur="500"/>
                                  <p:tgtEl>
                                    <p:spTgt spid="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THING I REALIZED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i="1" dirty="0">
                <a:solidFill>
                  <a:srgbClr val="23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model was only ever one piece of the puzzle.”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148840"/>
            <a:ext cx="6492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23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Going into this, I thought a good ML project mostly came down to knowing scikit-learn. </a:t>
            </a:r>
            <a:pPr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23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discoveries later, I’m realizing the model is the easy part to learn — it’s everything around it that actually makes a project good.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640080" y="379476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the ecosystem is what separates a good project from a great one.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7543800" y="1188720"/>
            <a:ext cx="3931920" cy="3977640"/>
          </a:xfrm>
          <a:prstGeom prst="roundRect">
            <a:avLst>
              <a:gd name="adj" fmla="val 3256"/>
            </a:avLst>
          </a:prstGeom>
          <a:solidFill>
            <a:srgbClr val="F5F3FB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909560" y="1508760"/>
            <a:ext cx="822960" cy="822960"/>
          </a:xfrm>
          <a:prstGeom prst="ellipse">
            <a:avLst/>
          </a:prstGeom>
          <a:solidFill>
            <a:srgbClr val="FFE3D9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9989" y="1739189"/>
            <a:ext cx="362102" cy="36210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909560" y="25146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23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the algorithm. The ecosystem.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909560" y="315468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gets you a model. Everything else on this list is what turns it into a project.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909560" y="4160520"/>
            <a:ext cx="3246120" cy="822960"/>
          </a:xfrm>
          <a:prstGeom prst="roundRect">
            <a:avLst>
              <a:gd name="adj" fmla="val 13333"/>
            </a:avLst>
          </a:prstGeom>
          <a:solidFill>
            <a:srgbClr val="FFEFEA"/>
          </a:solidFill>
          <a:ln/>
        </p:spPr>
      </p:sp>
      <p:sp>
        <p:nvSpPr>
          <p:cNvPr id="12" name="Text 9"/>
          <p:cNvSpPr/>
          <p:nvPr/>
        </p:nvSpPr>
        <p:spPr>
          <a:xfrm>
            <a:off x="8165592" y="4288536"/>
            <a:ext cx="2734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B84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model was never the hard part.”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THE REALIZATION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15665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7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HIDDEN ML ECOSYSTEM</a:t>
            </a:r>
            <a:endParaRPr lang="en-US" sz="9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7" fill="hold">
                      <p:stCondLst>
                        <p:cond delay="0"/>
                      </p:stCondLst>
                      <p:childTnLst>
                        <p:par>
                          <p:cTn id="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presetID="10" presetClass="entr" presetSubtype="0" fill="hold" grpId="0" nodeType="after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presetID="10" presetClass="entr" presetSubtype="0" fill="hold" grpId="0" nodeType="afterEffect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presetID="10" presetClass="entr" presetSubtype="0" fill="hold" grpId="0" nodeType="afterEffect">
                            <p:stCondLst>
                              <p:cond delay="105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presetID="10" presetClass="entr" presetSubtype="0" fill="hold" grpId="0" nodeType="afterEffect">
                            <p:stCondLst>
                              <p:cond delay="140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500"/>
                                  <p:tgtEl>
                                    <p:spTgt spid="6"/>
                                  </p:tgtEl>
                                </p:cBhvr>
                              </p:animEffec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" dur="500"/>
                                  <p:tgtEl>
                                    <p:spTgt spid="7"/>
                                  </p:tgtEl>
                                </p:cBhvr>
                              </p:animEffec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500"/>
                                  <p:tgtEl>
                                    <p:spTgt spid="8"/>
                                  </p:tgtEl>
                                </p:cBhvr>
                              </p:animEffec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" dur="500"/>
                                  <p:tgtEl>
                                    <p:spTgt spid="9"/>
                                  </p:tgtEl>
                                </p:cBhvr>
                              </p:animEffec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presetID="10" presetClass="entr" presetSubtype="0" fill="hold" grpId="0" nodeType="afterEffect">
                            <p:stCondLst>
                              <p:cond delay="175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8" dur="500"/>
                                  <p:tgtEl>
                                    <p:spTgt spid="11"/>
                                  </p:tgtEl>
                                </p:cBhvr>
                              </p:animEffec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5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grpId="0" nodeType="afterEffect">
                            <p:stCondLst>
                              <p:cond delay="210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10" presetClass="entr" presetSubtype="0" fill="hold" grpId="0" nodeType="afterEffect">
                            <p:stCondLst>
                              <p:cond delay="245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5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Hidden ML Ecosystem</dc:title>
  <dc:subject>PptxGenJS Presentation</dc:subject>
  <dc:creator>Urvashi</dc:creator>
  <cp:lastModifiedBy>Urvashi</cp:lastModifiedBy>
  <cp:revision>1</cp:revision>
  <dcterms:created xsi:type="dcterms:W3CDTF">2026-07-01T05:25:10Z</dcterms:created>
  <dcterms:modified xsi:type="dcterms:W3CDTF">2026-07-01T05:25:10Z</dcterms:modified>
</cp:coreProperties>
</file>